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1" r:id="rId22"/>
    <p:sldId id="261" r:id="rId11"/>
    <p:sldId id="262" r:id="rId12"/>
    <p:sldId id="263" r:id="rId13"/>
    <p:sldId id="272" r:id="rId23"/>
    <p:sldId id="273" r:id="rId24"/>
    <p:sldId id="264" r:id="rId14"/>
    <p:sldId id="265" r:id="rId15"/>
    <p:sldId id="266" r:id="rId16"/>
    <p:sldId id="267" r:id="rId17"/>
    <p:sldId id="268" r:id="rId18"/>
    <p:sldId id="274" r:id="rId25"/>
    <p:sldId id="269" r:id="rId19"/>
    <p:sldId id="270" r:id="rId20"/>
  </p:sldIdLst>
  <p:sldSz cy="6858000" cx="12192000"/>
  <p:notesSz cx="6761150" cy="9942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4DaYRzzOcnbhcNrJAqZQvfx4X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customschemas.google.com/relationships/presentationmetadata" Target="metadata"/><Relationship Id="rId22" Type="http://schemas.openxmlformats.org/officeDocument/2006/relationships/slide" Target="slides/slide6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IN" sz="14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14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IN" sz="24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24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4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/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2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4"/>
            </a:schemeClr>
          </a:solidFill>
          <a:ln cap="flat" cmpd="sng" w="76200">
            <a:solidFill>
              <a:srgbClr val="00589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2"/>
              <a:buFont typeface="Arial"/>
              <a:buNone/>
            </a:pPr>
            <a:r>
              <a:t/>
            </a:r>
            <a:endParaRPr b="0" i="0" sz="1092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4"/>
            </a:schemeClr>
          </a:solidFill>
          <a:ln cap="flat" cmpd="sng" w="76200">
            <a:solidFill>
              <a:srgbClr val="00589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2"/>
              <a:buFont typeface="Arial"/>
              <a:buNone/>
            </a:pPr>
            <a:r>
              <a:t/>
            </a:r>
            <a:endParaRPr b="0" i="0" sz="1092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4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" name="Google Shape;95;p25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/>
          <p:nvPr>
            <p:ph idx="2" type="pic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A building with a roof&#10;&#10;Description automatically generated" id="126" name="Google Shape;126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9" y="1067010"/>
            <a:ext cx="11421075" cy="3894085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>
            <a:off x="349046" y="4146929"/>
            <a:ext cx="11493908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OPTIFINERS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349045" y="5288583"/>
            <a:ext cx="11421075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IN" sz="32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INDUSTRIAL ENGINEERING &amp; MANAGEMENT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103120" y="182880"/>
            <a:ext cx="96926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Bookman Old Style"/>
              </a:rPr>
              <a:t>Outline of Tentative Steps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03120" y="914400"/>
            <a:ext cx="9692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002060"/>
                </a:solidFill>
                <a:latin typeface="Bookman Old Style"/>
              </a:rPr>
              <a:t>OptiProductio: Smart Production Workflow and Resource Optimization System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0292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Bookman Old Style"/>
              </a:rPr>
              <a:t>29 Oct 2026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0292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Pick and define the problem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Literature review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SMART objectives (PO1 to PO4)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Design the 3-station line and parts list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Plan the method and timeline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050791" y="1938528"/>
            <a:ext cx="219457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429768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II</a:t>
            </a:r>
          </a:p>
          <a:p>
            <a:pPr algn="ctr"/>
            <a:r>
              <a:rPr sz="1800" b="0">
                <a:solidFill>
                  <a:srgbClr val="FF9B9B"/>
                </a:solidFill>
                <a:latin typeface="Bookman Old Style"/>
              </a:rPr>
              <a:t>__ / __ / 2026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9768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43484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Wire sensors to Arduino UNO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Python logger and dashboard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Check counts against a hand tally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First runs and partial results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Dashboard on Bosch public data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7845552" y="1938528"/>
            <a:ext cx="21945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809244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III</a:t>
            </a:r>
          </a:p>
          <a:p>
            <a:pPr algn="ctr"/>
            <a:r>
              <a:rPr sz="1800" b="0">
                <a:solidFill>
                  <a:srgbClr val="FF9B9B"/>
                </a:solidFill>
                <a:latin typeface="Bookman Old Style"/>
              </a:rPr>
              <a:t>__ / __ / 2027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09244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2960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Rebalance and WIP-limit experiments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Results and discussion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Live prototype demo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Report, poster and PPT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IEEE-format paper draft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" y="5806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002060"/>
                </a:solidFill>
                <a:latin typeface="Bookman Old Style"/>
              </a:rPr>
              <a:t>Status today: Phase I planning done. Hardware build in progress. Red blanks = dates not announced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575733" y="1666874"/>
            <a:ext cx="11441457" cy="45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Introduction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Literature Review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Problem Definition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Objectives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Methodology and System Pipeline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Measurement Parameters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Research Process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Proposed Outcomes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Timeline of the Project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Conclusion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References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Expected Outcome by the End of First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174813" y="1051560"/>
            <a:ext cx="11842377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lang="en-IN" sz="1700" b="1"/>
              <a:t>OVERVIEW OF THE TOPIC: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OptiProductio: </a:t>
            </a:r>
            <a:r>
              <a:rPr lang="en-IN" sz="1700" b="0"/>
              <a:t>a low-cost system that watches a small production line in real time and shows how well it is working.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How: </a:t>
            </a:r>
            <a:r>
              <a:rPr lang="en-IN" sz="1700" b="0"/>
              <a:t>sensors on a 3-station model line send every event (part done, part rejected, line stopped) to an Arduino UNO, which passes it to a Python dashboard on a laptop.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Why: </a:t>
            </a:r>
            <a:r>
              <a:rPr lang="en-IN" sz="1700" b="0"/>
              <a:t>small factories often record output by hand, so delays, pile-ups and the slowest station stay hidden until the end of the shift [2], [4].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What it adds: </a:t>
            </a:r>
            <a:r>
              <a:rPr lang="en-IN" sz="1700" b="0"/>
              <a:t>an alert when too many parts pile up inside the line (a WIP limit), based on the CONWIP idea [5].</a:t>
            </a:r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i="0" sz="4000" cap="none" strike="noStrik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41148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Production count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IR sensor at each station exit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9184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Cycle time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time each station takes per part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17220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Inventory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raw material bin level and WIP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052559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Workflow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bottleneck, stops and pile-ups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1480" y="54864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002060"/>
                </a:solidFill>
                <a:latin typeface="Bookman Old Style"/>
              </a:rPr>
              <a:t>EL topic: Smart Production Workflow and Resource Optimization System. Deliverable: production efficiency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Bookman Old Style"/>
              </a:rPr>
              <a:t>Key studies and findings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365760" y="1463040"/>
          <a:ext cx="114300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66344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Study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What they did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Key finding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Hwang et al., 2017 [2]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IoT performance-measurement model built on the ISA-95 and ISO 22400 standards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IoT timestamp data can give OEE numbers in real 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Ng Corrales et al., 2020 [3]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Systematic review of OEE: 862 articles screened down to 186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Many industries adapt OEE, because the basic formula alone is not enough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Wicaksono et al., 2024 [4]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Replaced manual OEE logging with an ESP32 board over MQTT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Works in real time, but reports up to 16% OEE error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Spearman et al., 1990 [5]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Proposed CONWIP: a fixed cap on the total parts inside a line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A simple pull alternative to kanban that limits WIP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Thürer et al., 2023 [6]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Tested kanban, CONWIP and a hybrid on a physical lab-scale 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WIP limits cut the time a job spends in the line but can lower throughput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174813" y="1490132"/>
            <a:ext cx="11842377" cy="5222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Trends in literature: </a:t>
            </a:r>
            <a:r>
              <a:rPr lang="en-IN" sz="1700" b="0"/>
              <a:t>low-cost IoT boards now give real-time OEE [2], [4]; WIP limits like CONWIP are mostly tested in simulation or lab models [6], [9]; public line data such as the Bosch dataset is used mainly to predict failed parts [8].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>Theoretical framework: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Little's law: </a:t>
            </a:r>
            <a:r>
              <a:rPr lang="en-IN" sz="1500" b="0">
                <a:solidFill>
                  <a:srgbClr val="002060"/>
                </a:solidFill>
              </a:rPr>
              <a:t>average WIP = throughput × average flow time [7]. Cut WIP at the same throughput and parts spend less time in the line.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OEE = Availability × Performance × Quality </a:t>
            </a:r>
            <a:r>
              <a:rPr lang="en-IN" sz="1500" b="0">
                <a:solidFill>
                  <a:srgbClr val="002060"/>
                </a:solidFill>
              </a:rPr>
              <a:t>[3], [10].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CONWIP: </a:t>
            </a:r>
            <a:r>
              <a:rPr lang="en-IN" sz="1500" b="0">
                <a:solidFill>
                  <a:srgbClr val="002060"/>
                </a:solidFill>
              </a:rPr>
              <a:t>release a new part only when a finished part leaves [5].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Relevance to our project: </a:t>
            </a:r>
            <a:r>
              <a:rPr lang="en-IN" sz="1700" b="0"/>
              <a:t>monitoring papers report numbers but do not control the flow, and WIP-limit papers control the flow but are rarely tied to a live, measured line [6], [9]. Low-cost builds rarely check their accuracy against a manual count [4]. OptiProductio does all three on one small line.</a:t>
            </a:r>
          </a:p>
        </p:txBody>
      </p:sp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 (contd.)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174813" y="1076325"/>
            <a:ext cx="11842377" cy="5636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Clear statement of the problem: </a:t>
            </a:r>
            <a:r>
              <a:rPr lang="en-IN" sz="1700" b="0"/>
              <a:t>on a small manual line, work does not flow evenly. Four bottlenecks keep appearing, and today they are spotted only when someone walks past or from a paper tally at the end of the shift: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Slow station: </a:t>
            </a:r>
            <a:r>
              <a:rPr lang="en-IN" sz="1500" b="0">
                <a:solidFill>
                  <a:srgbClr val="002060"/>
                </a:solidFill>
              </a:rPr>
              <a:t>one task takes longer (our Station 2), so parts pile up in front of it and Station 3 stands idle.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Breakdown: </a:t>
            </a:r>
            <a:r>
              <a:rPr lang="en-IN" sz="1500" b="0">
                <a:solidFill>
                  <a:srgbClr val="002060"/>
                </a:solidFill>
              </a:rPr>
              <a:t>a stopped station blocks the stations before it and starves the ones after it.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Empty raw-material bin: </a:t>
            </a:r>
            <a:r>
              <a:rPr lang="en-IN" sz="1500" b="0">
                <a:solidFill>
                  <a:srgbClr val="002060"/>
                </a:solidFill>
              </a:rPr>
              <a:t>Station 1 runs out of parts without warning and the whole line starves.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>
                <a:solidFill>
                  <a:srgbClr val="002060"/>
                </a:solidFill>
              </a:rPr>
              <a:t xml:space="preserve">Burst of rejects: </a:t>
            </a:r>
            <a:r>
              <a:rPr lang="en-IN" sz="1500" b="0">
                <a:solidFill>
                  <a:srgbClr val="002060"/>
                </a:solidFill>
              </a:rPr>
              <a:t>bad parts load the inspection station, so good output drops while the line looks busy.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Pile-ups: </a:t>
            </a:r>
            <a:r>
              <a:rPr lang="en-IN" sz="1700" b="0"/>
              <a:t>if parts keep being released, WIP keeps growing in front of the slowest station [11] and every part waits longer [7].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Context: </a:t>
            </a:r>
            <a:r>
              <a:rPr lang="en-IN" sz="1700" b="0"/>
              <a:t>MSMEs gave 30.1% of India's GDP (2022-23) and 45.73% of exports (2023-24) [1]. Manual OEE recording is slow [4], and ordinary systems struggle to capture what is happening on the floor in real time [2].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Gap and novelty: </a:t>
            </a:r>
            <a:r>
              <a:rPr lang="en-IN" sz="1700" b="0"/>
              <a:t>low-cost monitoring and WIP control are studied separately [4], [9]. OptiProductio puts both on one prototype (under ₹2,000, our estimate) and checks its counts against a hand tally.</a:t>
            </a:r>
          </a:p>
        </p:txBody>
      </p:sp>
      <p:sp>
        <p:nvSpPr>
          <p:cNvPr id="162" name="Google Shape;162;p7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Definition</a:t>
            </a:r>
            <a:endParaRPr b="1" i="0" sz="3600" u="none" cap="none" strike="noStrik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342900" y="960120"/>
            <a:ext cx="1149667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600" b="1"/>
              <a:t xml:space="preserve">Main objective: </a:t>
            </a:r>
            <a:r>
              <a:rPr lang="en-IN" sz="1600" b="0"/>
              <a:t>build a low-cost prototype that measures production count, cycle time, inventory and WIP on a 3-station model line in real time, and uses them to show which of four bottlenecks is holding the line up: a slow station, a breakdown, an empty raw-material bin or a burst of rejects. Then test a WIP limit that stops parts piling up in front of it.</a:t>
            </a:r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Table 170"/>
          <p:cNvGraphicFramePr>
            <a:graphicFrameLocks noGrp="1"/>
          </p:cNvGraphicFramePr>
          <p:nvPr/>
        </p:nvGraphicFramePr>
        <p:xfrm>
          <a:off x="365760" y="2377440"/>
          <a:ext cx="11430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931920"/>
                <a:gridCol w="521208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ookman Old Style"/>
                        </a:rPr>
                        <a:t>PO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ookman Old Style"/>
                        </a:rPr>
                        <a:t>Specific objective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ookman Old Style"/>
                        </a:rPr>
                        <a:t>Measurable target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ookman Old Style"/>
                        </a:rPr>
                        <a:t>By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Bookman Old Style"/>
                        </a:rPr>
                        <a:t>PO1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parts at all 3 stations with IR sensors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error ≤ 2% against a hand tally, over three 10-minute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Bookman Old Style"/>
                        </a:rPr>
                        <a:t>PO2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Live dashboard: count, cycle time per station, WIP, bin level, downtime, OEE proxy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Refreshes every 2 s or faster; all 6 numbers on one screen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Bookman Old Style"/>
                        </a:rPr>
                        <a:t>PO3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Name the bottleneck, then rebalance the slow station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Right cause shown in 4 of 4 staged tests (slow S2, breakdown, empty bin, rejects); throughput and flow time before and after, 3 runs 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Bookman Old Style"/>
                        </a:rPr>
                        <a:t>PO4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WIP-limit alert (LED, buzzer, dashboard)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Alert fires at the cap every time; trade-off reported for caps 2, 4, 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65760" y="5440680"/>
            <a:ext cx="11430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Bookman Old Style"/>
              </a:rPr>
              <a:t>Why achievable: </a:t>
            </a:r>
            <a:r>
              <a:rPr sz="1400" b="0" i="0">
                <a:solidFill>
                  <a:srgbClr val="002060"/>
                </a:solidFill>
                <a:latin typeface="Bookman Old Style"/>
              </a:rPr>
              <a:t>parts are standard IDEA Lab kit, the code is already written and tested on sample data, and each PO is checked by a simple count or timer.  </a:t>
            </a:r>
            <a:r>
              <a:rPr sz="1400" b="1" i="0">
                <a:solidFill>
                  <a:srgbClr val="002060"/>
                </a:solidFill>
                <a:latin typeface="Bookman Old Style"/>
              </a:rPr>
              <a:t>Expected contribution: </a:t>
            </a:r>
            <a:r>
              <a:rPr sz="1400" b="0" i="0">
                <a:solidFill>
                  <a:srgbClr val="002060"/>
                </a:solidFill>
                <a:latin typeface="Bookman Old Style"/>
              </a:rPr>
              <a:t>a cheap, open template for monitoring and WIP control that small units and student labs can copy.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174811" y="1069220"/>
            <a:ext cx="11842377" cy="52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Design: </a:t>
            </a:r>
            <a:r>
              <a:rPr lang="en-IN" sz="1700" b="0"/>
              <a:t>quantitative and experimental. Build the line, measure it, change one thing at a time (rebalance, then WIP limit) and compare the numbers.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Data collection: </a:t>
            </a:r>
            <a:r>
              <a:rPr lang="en-IN" sz="1700" b="0"/>
              <a:t>IR sensors time every part leaving each station; buttons log breakdown, no-material and reject; an ultrasonic sensor reads the raw material bin. The Arduino stamps each event in milliseconds and sends it over USB to a Python logger (CSV). Secondary data: the public Bosch production line dataset [8], [12].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Data analysis: </a:t>
            </a:r>
            <a:r>
              <a:rPr lang="en-IN" sz="1700" b="0"/>
              <a:t>throughput, cycle time per station, WIP and flow time from the event log; Little's law as a cross-check [7]; OEE proxy = A × P × Q [3]; mean and spread across 3 repeat runs.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Tools: </a:t>
            </a:r>
            <a:r>
              <a:rPr lang="en-IN" sz="1700" b="0"/>
              <a:t>Arduino IDE (C++), Python (pyserial, pandas, Streamlit), Excel for result tables.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Risks and fallbacks: </a:t>
            </a:r>
            <a:r>
              <a:rPr lang="en-IN" sz="1700" b="0"/>
              <a:t>miscounts (cardboard gates, debounce, hand tally check); hardware failure on demo day (replay a saved run); Bosch time units are not published (use only for relative comparison).</a:t>
            </a:r>
          </a:p>
        </p:txBody>
      </p:sp>
      <p:sp>
        <p:nvSpPr>
          <p:cNvPr id="176" name="Google Shape;176;p9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System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41148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Raw material bin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ultrasonic sensor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95351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333756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1: Cut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sensor D2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87959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626364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2: Drill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sensor D3 (slow on purpose)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880567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918972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3: Inspect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D4 + Reject button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11480" y="1024128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Bookman Old Style"/>
              </a:rPr>
              <a:t>Physical line (parts moved by hand)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11480" y="2743200"/>
            <a:ext cx="329184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Control panel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Breakdown, No-material buttons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434840" y="2743200"/>
            <a:ext cx="3291840" cy="9144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Arduino UNO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timestamps every event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458200" y="2743200"/>
            <a:ext cx="329184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Andon on the line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LCD, red/green LED, buzzer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6080760" y="2331720"/>
            <a:ext cx="0" cy="393192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721608" y="320040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744968" y="320040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4434840" y="4114800"/>
            <a:ext cx="3291840" cy="8229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Python logger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USB serial to CSV event log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6080760" y="3675887"/>
            <a:ext cx="0" cy="420625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ounded Rectangle 200"/>
          <p:cNvSpPr/>
          <p:nvPr/>
        </p:nvSpPr>
        <p:spPr>
          <a:xfrm>
            <a:off x="411480" y="4114800"/>
            <a:ext cx="3291840" cy="82296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Bosch public dataset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converted to the same events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3721608" y="452628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4434840" y="5257800"/>
            <a:ext cx="3291840" cy="8229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Metrics engine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count, cycle time, WIP, OEE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6080760" y="4956048"/>
            <a:ext cx="0" cy="28346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8458200" y="5257800"/>
            <a:ext cx="3291840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Streamlit dashboard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live KPIs and WIP alert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744968" y="566928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0104120" y="3675887"/>
            <a:ext cx="0" cy="1563625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0195560" y="420624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Bookman Old Style"/>
              </a:rPr>
              <a:t>WIP cap sent back to Arduino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Measurement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002060"/>
                </a:solidFill>
                <a:latin typeface="Bookman Old Style"/>
              </a:rPr>
              <a:t>No machine-learning model is trained in this project. These are the measurement settings we will report.</a:t>
            </a:r>
          </a:p>
        </p:txBody>
      </p:sp>
      <p:graphicFrame>
        <p:nvGraphicFramePr>
          <p:cNvPr id="179" name="Table 178"/>
          <p:cNvGraphicFramePr>
            <a:graphicFrameLocks noGrp="1"/>
          </p:cNvGraphicFramePr>
          <p:nvPr/>
        </p:nvGraphicFramePr>
        <p:xfrm>
          <a:off x="365760" y="1371600"/>
          <a:ext cx="1143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03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Data sources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Live line event log (CSV) and a Bosch sample: first 50,000 rows, line L3, 3 busiest stations [12]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Event format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time (s), event (PASS / SCRAP / DOWN / UP), station, reason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Sensor timing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IR debounce 400 ms; button debounce 200 ms; status sent every 1 s; dashboard refresh 2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Cycle time (per station)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finish(k) − max(arrive(k), finish(k−1)), so stations after the bottleneck do not look slow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WIP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parts released at Station 1 minus parts that left Station 3 (good or scrap)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Throughput / flow time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good parts per minute / exit time − entry time per part; checked with Little's law [7]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OEE proxy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A × P × Q [3]; ideal cycle time set by the team: </a:t>
                      </a:r>
                      <a:r>
                        <a:rPr sz="1400" b="1">
                          <a:solidFill>
                            <a:srgbClr val="FF0000"/>
                          </a:solidFill>
                          <a:latin typeface="Bookman Old Style"/>
                        </a:rPr>
                        <a:t>__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Experiments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baseline, rebalanced, WIP cap 2 / 4 / 6; 10 minutes per run, 3 repeats each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Targets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error ≤ 2%; Little's law gap ≤ 10%; alert fires every time WIP reaches the 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Research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320040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Literature review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350008" y="1618488"/>
            <a:ext cx="28346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2651760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Define problem and POs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4681728" y="1618488"/>
            <a:ext cx="28346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498347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Design line and parts list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7013448" y="1618488"/>
            <a:ext cx="283463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731519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Build and wire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9345167" y="1618488"/>
            <a:ext cx="283465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/>
          <p:cNvSpPr/>
          <p:nvPr/>
        </p:nvSpPr>
        <p:spPr>
          <a:xfrm>
            <a:off x="964691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Calibrate: count vs hand tally</a:t>
            </a:r>
          </a:p>
        </p:txBody>
      </p:sp>
      <p:sp>
        <p:nvSpPr>
          <p:cNvPr id="194" name="Diamond 193"/>
          <p:cNvSpPr/>
          <p:nvPr/>
        </p:nvSpPr>
        <p:spPr>
          <a:xfrm>
            <a:off x="9281160" y="2377440"/>
            <a:ext cx="2377440" cy="128016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0000"/>
                </a:solidFill>
                <a:latin typeface="Bookman Old Style"/>
              </a:rPr>
              <a:t>Error ≤ 2%?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0469880" y="2075688"/>
            <a:ext cx="0" cy="28346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863840" y="2514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Bookman Old Style"/>
              </a:rPr>
              <a:t>No: adjust</a:t>
            </a:r>
          </a:p>
        </p:txBody>
      </p:sp>
      <p:cxnSp>
        <p:nvCxnSpPr>
          <p:cNvPr id="197" name="Connector 196"/>
          <p:cNvCxnSpPr/>
          <p:nvPr/>
        </p:nvCxnSpPr>
        <p:spPr>
          <a:xfrm flipH="1">
            <a:off x="8641080" y="3017520"/>
            <a:ext cx="62179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6629400" y="2606040"/>
            <a:ext cx="2011680" cy="82296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02060"/>
                </a:solidFill>
                <a:latin typeface="Bookman Old Style"/>
              </a:rPr>
              <a:t>Fix gates and sensor range</a:t>
            </a:r>
          </a:p>
        </p:txBody>
      </p:sp>
      <p:cxnSp>
        <p:nvCxnSpPr>
          <p:cNvPr id="199" name="Connector 198"/>
          <p:cNvCxnSpPr/>
          <p:nvPr/>
        </p:nvCxnSpPr>
        <p:spPr>
          <a:xfrm flipV="1">
            <a:off x="7635240" y="2075688"/>
            <a:ext cx="0" cy="512064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561320" y="3657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7B34"/>
                </a:solidFill>
                <a:latin typeface="Bookman Old Style"/>
              </a:rPr>
              <a:t>Yes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28116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1: baseline</a:t>
            </a:r>
          </a:p>
        </p:txBody>
      </p:sp>
      <p:cxnSp>
        <p:nvCxnSpPr>
          <p:cNvPr id="202" name="Connector 201"/>
          <p:cNvCxnSpPr/>
          <p:nvPr/>
        </p:nvCxnSpPr>
        <p:spPr>
          <a:xfrm flipH="1">
            <a:off x="907084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704088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Find bottleneck</a:t>
            </a:r>
          </a:p>
        </p:txBody>
      </p:sp>
      <p:cxnSp>
        <p:nvCxnSpPr>
          <p:cNvPr id="204" name="Connector 203"/>
          <p:cNvCxnSpPr/>
          <p:nvPr/>
        </p:nvCxnSpPr>
        <p:spPr>
          <a:xfrm flipH="1">
            <a:off x="683056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480060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2: rebalanced</a:t>
            </a:r>
          </a:p>
        </p:txBody>
      </p:sp>
      <p:cxnSp>
        <p:nvCxnSpPr>
          <p:cNvPr id="206" name="Connector 205"/>
          <p:cNvCxnSpPr/>
          <p:nvPr/>
        </p:nvCxnSpPr>
        <p:spPr>
          <a:xfrm flipH="1">
            <a:off x="459028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2560320" y="4069080"/>
            <a:ext cx="2011680" cy="8686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3: WIP caps 2/4/6</a:t>
            </a:r>
          </a:p>
        </p:txBody>
      </p:sp>
      <p:cxnSp>
        <p:nvCxnSpPr>
          <p:cNvPr id="208" name="Connector 207"/>
          <p:cNvCxnSpPr/>
          <p:nvPr/>
        </p:nvCxnSpPr>
        <p:spPr>
          <a:xfrm flipH="1">
            <a:off x="235000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320039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Analyse: Little's law, OEE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10469880" y="3675887"/>
            <a:ext cx="0" cy="37490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320040" y="5349240"/>
            <a:ext cx="3657600" cy="73152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2060"/>
                </a:solidFill>
                <a:latin typeface="Bookman Old Style"/>
              </a:rPr>
              <a:t>Repeat on Bosch public data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343400" y="5349240"/>
            <a:ext cx="3657600" cy="73152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2060"/>
                </a:solidFill>
                <a:latin typeface="Bookman Old Style"/>
              </a:rPr>
              <a:t>Report, poster, paper draft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1325880" y="4956048"/>
            <a:ext cx="0" cy="37490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995928" y="5715000"/>
            <a:ext cx="32918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247650" y="1117600"/>
            <a:ext cx="11769538" cy="5229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Expected results: </a:t>
            </a:r>
            <a:r>
              <a:rPr lang="en-IN" sz="1700" b="0"/>
              <a:t>a working prototype (3-station line and live dashboard) and a results table comparing baseline, rebalanced and WIP-capped runs: throughput, average WIP, flow time, cycle time per station, OEE proxy and scrap rate.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Success criteria: </a:t>
            </a:r>
            <a:r>
              <a:rPr lang="en-IN" sz="1700" b="0"/>
              <a:t xml:space="preserve">PO1 to PO4 met. Improvement after rebalancing: </a:t>
            </a:r>
            <a:r>
              <a:rPr lang="en-IN" sz="1700" b="1">
                <a:solidFill>
                  <a:srgbClr val="FF0000"/>
                </a:solidFill>
              </a:rPr>
              <a:t>__ %</a:t>
            </a:r>
            <a:r>
              <a:rPr lang="en-IN" sz="1700" b="0"/>
              <a:t xml:space="preserve"> (to be measured, not assumed).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Potential impact: </a:t>
            </a:r>
            <a:r>
              <a:rPr lang="en-IN" sz="1700" b="0"/>
              <a:t>shows that count, cycle time, inventory and workflow can be watched live with low-cost parts, as a template for small units and student labs.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Limits we will state: </a:t>
            </a:r>
            <a:r>
              <a:rPr lang="en-IN" sz="1700" b="0"/>
              <a:t>OEE is a proxy (our own ideal cycle time); parts are moved by hand; Bosch time units are estimated by the Kaggle community, not published by Bosch [8].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Future research directions: </a:t>
            </a:r>
            <a:r>
              <a:rPr lang="en-IN" sz="1700" b="0"/>
              <a:t>wireless boards, more stations and product types, and testing the WIP-limit alert on more real factory data.</a:t>
            </a:r>
          </a:p>
        </p:txBody>
      </p:sp>
      <p:sp>
        <p:nvSpPr>
          <p:cNvPr id="190" name="Google Shape;190;p1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Timeline of the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Table 198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4480560"/>
                <a:gridCol w="210312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Sprint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Dates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Work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Linked to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23 to 29 Oct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Problem, literature review, POs, line design, parts list, code skeleton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 review (29 Oct)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7B34"/>
                          </a:solidFill>
                          <a:latin typeface="Bookman Old Style"/>
                        </a:rPr>
                        <a:t>Done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30 Oct to 1 Nov 2026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Wire all sensors, logger and dashboard running together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PO1, PO2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Bookman Old Style"/>
                        </a:rPr>
                        <a:t>In progress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2 Nov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accuracy test, Bosch data mode, first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PO1, PO2, Phase 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Baseline, rebalance and WIP-cap experiments (3 repeats each)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PO3, PO4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Results, report, poster, PPT, paper draft, demo rehearsal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TextBox 199"/>
          <p:cNvSpPr txBox="1"/>
          <p:nvPr/>
        </p:nvSpPr>
        <p:spPr>
          <a:xfrm>
            <a:off x="365760" y="52578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Bookman Old Style"/>
              </a:rPr>
              <a:t>Phase II date: </a:t>
            </a:r>
            <a:r>
              <a:rPr sz="1300" b="1" i="0">
                <a:solidFill>
                  <a:srgbClr val="FF0000"/>
                </a:solidFill>
                <a:latin typeface="Bookman Old Style"/>
              </a:rPr>
              <a:t>__ / __ / 2026</a:t>
            </a:r>
            <a:r>
              <a:rPr sz="1300" b="1" i="0">
                <a:solidFill>
                  <a:srgbClr val="002060"/>
                </a:solidFill>
                <a:latin typeface="Bookman Old Style"/>
              </a:rPr>
              <a:t>     Phase III date: </a:t>
            </a:r>
            <a:r>
              <a:rPr sz="1300" b="1" i="0">
                <a:solidFill>
                  <a:srgbClr val="FF0000"/>
                </a:solidFill>
                <a:latin typeface="Bookman Old Style"/>
              </a:rPr>
              <a:t>__ / __ / 2027</a:t>
            </a:r>
            <a:r>
              <a:rPr sz="1300" b="0" i="0">
                <a:solidFill>
                  <a:srgbClr val="002060"/>
                </a:solidFill>
                <a:latin typeface="Bookman Old Style"/>
              </a:rPr>
              <a:t>     (dates to be announced; sprints will be fixed backwards from them)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idx="1" type="body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Summary of key points: </a:t>
            </a:r>
            <a:r>
              <a:rPr lang="en-IN" sz="2000" b="0"/>
              <a:t>OptiProductio measures production count, cycle time, inventory and workflow on a 3-station model line, live, using an Arduino UNO, low-cost sensors and a Python dashboard.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What makes it different: </a:t>
            </a:r>
            <a:r>
              <a:rPr lang="en-IN" sz="2000" b="0"/>
              <a:t>it adds a WIP-limit alert based on CONWIP [5], and it checks its own numbers against a hand tally and Little's law [7].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Final thought: </a:t>
            </a:r>
            <a:r>
              <a:rPr lang="en-IN" sz="2000" b="0"/>
              <a:t>you cannot improve a line you cannot see. OptiProductio makes the line visible cheaply.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Next steps: </a:t>
            </a:r>
            <a:r>
              <a:rPr lang="en-IN" sz="2000" b="0"/>
              <a:t>finish wiring by 1 Nov, run the count accuracy test (PO1), then bring partial results to Phase II.</a:t>
            </a:r>
          </a:p>
        </p:txBody>
      </p:sp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389467" y="1051560"/>
            <a:ext cx="11192933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/>
              <a:t>[1] Press Information Bureau. (2024, December 23). The MSME revolution: Transforming India's economic landscape. Government of India. https://static.pib.gov.in/WriteReadData/specificdocs/documents/2024/dec/doc20241223476301.pdf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[2] Hwang, G., Lee, J., Park, J., &amp; Chang, T.-W. (2017). Developing performance measurement system for Internet of Things and smart factory environment. International Journal of Production Research, 55(9), 2590–2602. https://doi.org/10.1080/00207543.2016.1245883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[3] Ng Corrales, L. del C., Lambán, M. P., Hernandez Korner, M. E., &amp; Royo, J. (2020). Overall equipment effectiveness: Systematic literature review and overview of different approaches. Applied Sciences, 10(18), 6469. https://doi.org/10.3390/app10186469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[4] Wicaksono, A. A., Ningsih, Y. K., &amp; Surjati, I. (2024). Implementation of MQTT protocol on ESP32-based OEE analysis development board. Emitor: Jurnal Teknik Elektro, 24(2), 169–175. https://doi.org/10.23917/emitor.v24i2.3908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[5] Spearman, M. L., Woodruff, D. L., &amp; Hopp, W. J. (1990). CONWIP: A pull alternative to kanban. International Journal of Production Research, 28(5), 879–894. https://doi.org/10.1080/00207549008942761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[6] Thürer, M., Li, S. S., Yang, C., Qu, T., &amp; Huang, G. Q. (2023). Does regulating work-in-process increase throughput and reduce cycle times? An assessment by lab scale system models. In Advances in Production Management Systems (APMS 2023), IFIP AICT 691 (pp. 649–661). Springer. https://doi.org/10.1007/978-3-031-43670-3_45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[7] Little, J. D. C. (2011). Little's law as viewed on its 50th anniversary. Operations Research, 59(3), 536–549. https://doi.org/10.1287/opre.1110.0940</a:t>
            </a:r>
          </a:p>
        </p:txBody>
      </p:sp>
      <p:sp>
        <p:nvSpPr>
          <p:cNvPr id="213" name="Google Shape;213;p1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389467" y="1051560"/>
            <a:ext cx="11192933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/>
              <a:t>[8] Mangal, A., &amp; Kumar, N. (2017). Using big data to enhance the Bosch production line performance: A Kaggle challenge. arXiv. https://arxiv.org/abs/1701.00705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[9] Pettersen, J.-A., &amp; Segerstedt, A. (2009). Restricted work-in-process: A study of differences between Kanban and CONWIP. International Journal of Production Economics, 118(1), 199–207.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[10] International Organization for Standardization. (2014). Automation systems and integration: Key performance indicators (KPIs) for manufacturing operations management. Part 2 (ISO 22400-2:2014). https://www.iso.org/standard/54497.html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[11] Cordon, C. (1995). Quality defaults and work-in-process inventory. European Journal of Operational Research, 80(2), 240–251.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[12] Bosch. (2016). Bosch production line performance [Data set]. Kaggle. https://www.kaggle.com/c/bosch-production-line-performance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[13] The Patents Act, 1970, § 3(k) (India). https://www.indiacode.nic.in/handle/123456789/1392</a:t>
            </a:r>
          </a:p>
        </p:txBody>
      </p:sp>
      <p:sp>
        <p:nvSpPr>
          <p:cNvPr id="213" name="Google Shape;213;p1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(contd.)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idx="1" type="body"/>
          </p:nvPr>
        </p:nvSpPr>
        <p:spPr>
          <a:xfrm>
            <a:off x="174813" y="1327530"/>
            <a:ext cx="11842377" cy="5530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Product prototype: </a:t>
            </a:r>
            <a:r>
              <a:rPr lang="en-IN" sz="1800" b="0"/>
              <a:t>a working OptiProductio line and dashboard, released as open source (code, wiring table and build guide) so other labs can rebuild it.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Conference publication: </a:t>
            </a:r>
            <a:r>
              <a:rPr lang="en-IN" sz="1800" b="0"/>
              <a:t>a short paper in IEEE format on the prototype, the accuracy check and the WIP-limit experiments. Target venue to be chosen once results are in.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Research proposal: </a:t>
            </a:r>
            <a:r>
              <a:rPr lang="en-IN" sz="1800" b="0"/>
              <a:t>extend the work to more stations, wireless boards and more real factory data.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Patent: </a:t>
            </a:r>
            <a:r>
              <a:rPr lang="en-IN" sz="1800" b="0"/>
              <a:t>not planned. Software and algorithms on their own are generally not patentable in India (Patents Act, 1970, Section 3(k)) [13], so we will not claim one.</a:t>
            </a:r>
          </a:p>
        </p:txBody>
      </p:sp>
      <p:sp>
        <p:nvSpPr>
          <p:cNvPr id="221" name="Google Shape;221;p15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Thursday, 29 October 2026</a:t>
            </a:r>
            <a:endParaRPr/>
          </a:p>
        </p:txBody>
      </p:sp>
      <p:sp>
        <p:nvSpPr>
          <p:cNvPr id="222" name="Google Shape;222;p1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2235201" y="145670"/>
            <a:ext cx="8974666" cy="11818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Expected Outcome by the End of First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9" name="Google Shape;2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2021-06-02T13:10:21Z</dcterms:created>
  <dc:creator>Dr. Shanmukha</dc:creator>
</cp:coreProperties>
</file>