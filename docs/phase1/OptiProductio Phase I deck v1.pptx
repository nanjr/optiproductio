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71" r:id="rId22"/>
    <p:sldId id="261" r:id="rId11"/>
    <p:sldId id="262" r:id="rId12"/>
    <p:sldId id="263" r:id="rId13"/>
    <p:sldId id="272" r:id="rId23"/>
    <p:sldId id="273" r:id="rId24"/>
    <p:sldId id="264" r:id="rId14"/>
    <p:sldId id="265" r:id="rId15"/>
    <p:sldId id="266" r:id="rId16"/>
    <p:sldId id="267" r:id="rId17"/>
    <p:sldId id="268" r:id="rId18"/>
    <p:sldId id="274" r:id="rId25"/>
    <p:sldId id="269" r:id="rId19"/>
    <p:sldId id="270" r:id="rId20"/>
  </p:sldIdLst>
  <p:sldSz cy="6858000" cx="12192000"/>
  <p:notesSz cx="6761150" cy="99425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21" roundtripDataSignature="AMtx7mg4DaYRzzOcnbhcNrJAqZQvfx4XB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customschemas.google.com/relationships/presentationmetadata" Target="metadata"/><Relationship Id="rId22" Type="http://schemas.openxmlformats.org/officeDocument/2006/relationships/slide" Target="slides/slide6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29837" cy="4988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29761" y="0"/>
            <a:ext cx="2929837" cy="4988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443662"/>
            <a:ext cx="2929837" cy="4988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3" name="Google Shape;123;p1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1" name="Google Shape;131;p3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7" name="Google Shape;137;p4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5" name="Google Shape;145;p5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2" name="Google Shape;152;p6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9" name="Google Shape;159;p7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8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6" name="Google Shape;166;p8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9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3" name="Google Shape;173;p9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0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0" name="Google Shape;180;p10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1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7" name="Google Shape;187;p11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2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4" name="Google Shape;194;p12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3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p13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2" name="Google Shape;202;p13:notes"/>
          <p:cNvSpPr txBox="1"/>
          <p:nvPr>
            <p:ph idx="12" type="sldNum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4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p14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0" name="Google Shape;210;p14:notes"/>
          <p:cNvSpPr txBox="1"/>
          <p:nvPr>
            <p:ph idx="12" type="sldNum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5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p15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8" name="Google Shape;218;p15:notes"/>
          <p:cNvSpPr txBox="1"/>
          <p:nvPr>
            <p:ph idx="12" type="sldNum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6:notes"/>
          <p:cNvSpPr txBox="1"/>
          <p:nvPr>
            <p:ph idx="1" type="body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6" name="Google Shape;226;p16:notes"/>
          <p:cNvSpPr/>
          <p:nvPr>
            <p:ph idx="2" type="sldImg"/>
          </p:nvPr>
        </p:nvSpPr>
        <p:spPr>
          <a:xfrm>
            <a:off x="398463" y="1243013"/>
            <a:ext cx="5964237" cy="3355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jp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/>
          <p:nvPr>
            <p:ph idx="1" type="body"/>
          </p:nvPr>
        </p:nvSpPr>
        <p:spPr>
          <a:xfrm>
            <a:off x="174813" y="1258282"/>
            <a:ext cx="11842377" cy="491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  <a:defRPr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2000"/>
              <a:buChar char="•"/>
              <a:defRPr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800"/>
              <a:buChar char="•"/>
              <a:defRPr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800"/>
              <a:buChar char="•"/>
              <a:defRPr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" name="Google Shape;17;p18"/>
          <p:cNvSpPr txBox="1"/>
          <p:nvPr/>
        </p:nvSpPr>
        <p:spPr>
          <a:xfrm>
            <a:off x="5055596" y="6405140"/>
            <a:ext cx="2080806" cy="2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700">
            <a:spAutoFit/>
          </a:bodyPr>
          <a:lstStyle/>
          <a:p>
            <a:pPr indent="0" lvl="0" marL="770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1" lang="en-IN" sz="1400" u="none" cap="none" strike="noStrike">
                <a:solidFill>
                  <a:srgbClr val="422C7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Go, change the world</a:t>
            </a:r>
            <a:endParaRPr b="1" i="0" sz="1400" u="none" cap="none" strike="noStrike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8" name="Google Shape;18;p18"/>
          <p:cNvSpPr txBox="1"/>
          <p:nvPr>
            <p:ph idx="10" type="dt"/>
          </p:nvPr>
        </p:nvSpPr>
        <p:spPr>
          <a:xfrm>
            <a:off x="174812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2" type="sldNum"/>
          </p:nvPr>
        </p:nvSpPr>
        <p:spPr>
          <a:xfrm>
            <a:off x="9273988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18"/>
          <p:cNvPicPr preferRelativeResize="0"/>
          <p:nvPr/>
        </p:nvPicPr>
        <p:blipFill rotWithShape="1">
          <a:blip r:embed="rId2">
            <a:alphaModFix/>
          </a:blip>
          <a:srcRect b="0" l="0" r="0" t="13833"/>
          <a:stretch/>
        </p:blipFill>
        <p:spPr>
          <a:xfrm>
            <a:off x="-1" y="76427"/>
            <a:ext cx="2207505" cy="9976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/>
          <p:nvPr>
            <p:ph type="ctrTitle"/>
          </p:nvPr>
        </p:nvSpPr>
        <p:spPr>
          <a:xfrm>
            <a:off x="1524000" y="1195310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6000"/>
              <a:buFont typeface="Bookman Old Style"/>
              <a:buNone/>
              <a:defRPr sz="6000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9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400"/>
              <a:buNone/>
              <a:defRPr sz="2400">
                <a:solidFill>
                  <a:srgbClr val="C00000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4" name="Google Shape;24;p19"/>
          <p:cNvSpPr txBox="1"/>
          <p:nvPr>
            <p:ph idx="10" type="dt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2" type="sldNum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6" name="Google Shape;26;p19"/>
          <p:cNvSpPr txBox="1"/>
          <p:nvPr/>
        </p:nvSpPr>
        <p:spPr>
          <a:xfrm>
            <a:off x="4541263" y="6344368"/>
            <a:ext cx="3498933" cy="3771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700">
            <a:spAutoFit/>
          </a:bodyPr>
          <a:lstStyle/>
          <a:p>
            <a:pPr indent="0" lvl="0" marL="770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1" lang="en-IN" sz="2400" u="none" cap="none" strike="noStrike">
                <a:solidFill>
                  <a:srgbClr val="422C7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Go, change the world</a:t>
            </a:r>
            <a:endParaRPr b="1" i="0" sz="2400" u="none" cap="none" strike="noStrike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27" name="Google Shape;27;p19"/>
          <p:cNvPicPr preferRelativeResize="0"/>
          <p:nvPr/>
        </p:nvPicPr>
        <p:blipFill rotWithShape="1">
          <a:blip r:embed="rId2">
            <a:alphaModFix/>
          </a:blip>
          <a:srcRect b="0" l="0" r="0" t="13833"/>
          <a:stretch/>
        </p:blipFill>
        <p:spPr>
          <a:xfrm>
            <a:off x="0" y="0"/>
            <a:ext cx="2207505" cy="9976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0"/>
          <p:cNvSpPr txBox="1"/>
          <p:nvPr>
            <p:ph idx="1" type="body"/>
          </p:nvPr>
        </p:nvSpPr>
        <p:spPr>
          <a:xfrm>
            <a:off x="268942" y="1258282"/>
            <a:ext cx="5750859" cy="49186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20"/>
          <p:cNvSpPr txBox="1"/>
          <p:nvPr>
            <p:ph idx="2" type="body"/>
          </p:nvPr>
        </p:nvSpPr>
        <p:spPr>
          <a:xfrm>
            <a:off x="6172202" y="1258280"/>
            <a:ext cx="5795682" cy="49186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20"/>
          <p:cNvSpPr txBox="1"/>
          <p:nvPr>
            <p:ph idx="10" type="dt"/>
          </p:nvPr>
        </p:nvSpPr>
        <p:spPr>
          <a:xfrm>
            <a:off x="26894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12" type="sldNum"/>
          </p:nvPr>
        </p:nvSpPr>
        <p:spPr>
          <a:xfrm>
            <a:off x="9224683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grpSp>
        <p:nvGrpSpPr>
          <p:cNvPr id="33" name="Google Shape;33;p20"/>
          <p:cNvGrpSpPr/>
          <p:nvPr/>
        </p:nvGrpSpPr>
        <p:grpSpPr>
          <a:xfrm>
            <a:off x="4862837" y="6212514"/>
            <a:ext cx="2313924" cy="600635"/>
            <a:chOff x="9682912" y="8965"/>
            <a:chExt cx="2402541" cy="600635"/>
          </a:xfrm>
        </p:grpSpPr>
        <p:sp>
          <p:nvSpPr>
            <p:cNvPr id="34" name="Google Shape;34;p20"/>
            <p:cNvSpPr/>
            <p:nvPr/>
          </p:nvSpPr>
          <p:spPr>
            <a:xfrm>
              <a:off x="9682912" y="8965"/>
              <a:ext cx="2402541" cy="600635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19050">
              <a:solidFill>
                <a:srgbClr val="00206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35;p20"/>
            <p:cNvSpPr txBox="1"/>
            <p:nvPr/>
          </p:nvSpPr>
          <p:spPr>
            <a:xfrm>
              <a:off x="9803934" y="193190"/>
              <a:ext cx="2160495" cy="2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7700">
              <a:spAutoFit/>
            </a:bodyPr>
            <a:lstStyle/>
            <a:p>
              <a:pPr indent="0" lvl="0" marL="7701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1" lang="en-IN" sz="1400" u="none" cap="none" strike="noStrike">
                  <a:solidFill>
                    <a:srgbClr val="422C75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Go, change the world</a:t>
              </a:r>
              <a:endParaRPr b="1" i="0" sz="14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</p:txBody>
        </p:sp>
      </p:grpSp>
      <p:pic>
        <p:nvPicPr>
          <p:cNvPr id="36" name="Google Shape;36;p20"/>
          <p:cNvPicPr preferRelativeResize="0"/>
          <p:nvPr/>
        </p:nvPicPr>
        <p:blipFill rotWithShape="1">
          <a:blip r:embed="rId2">
            <a:alphaModFix/>
          </a:blip>
          <a:srcRect b="0" l="0" r="0" t="13833"/>
          <a:stretch/>
        </p:blipFill>
        <p:spPr>
          <a:xfrm>
            <a:off x="224117" y="81266"/>
            <a:ext cx="2207505" cy="9976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1"/>
          <p:cNvSpPr txBox="1"/>
          <p:nvPr>
            <p:ph type="title"/>
          </p:nvPr>
        </p:nvSpPr>
        <p:spPr>
          <a:xfrm>
            <a:off x="831852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Bookman Old Style"/>
              <a:buNone/>
              <a:defRPr sz="5400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1" type="body"/>
          </p:nvPr>
        </p:nvSpPr>
        <p:spPr>
          <a:xfrm>
            <a:off x="831852" y="4589464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None/>
              <a:defRPr sz="2400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0" name="Google Shape;40;p21"/>
          <p:cNvSpPr txBox="1"/>
          <p:nvPr>
            <p:ph idx="10" type="dt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1"/>
          <p:cNvSpPr txBox="1"/>
          <p:nvPr>
            <p:ph idx="11" type="ftr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1"/>
          <p:cNvSpPr txBox="1"/>
          <p:nvPr>
            <p:ph idx="12" type="sldNum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grpSp>
        <p:nvGrpSpPr>
          <p:cNvPr id="43" name="Google Shape;43;p21"/>
          <p:cNvGrpSpPr/>
          <p:nvPr/>
        </p:nvGrpSpPr>
        <p:grpSpPr>
          <a:xfrm>
            <a:off x="9842217" y="17838"/>
            <a:ext cx="2313924" cy="600635"/>
            <a:chOff x="9682912" y="8965"/>
            <a:chExt cx="2402541" cy="600635"/>
          </a:xfrm>
        </p:grpSpPr>
        <p:sp>
          <p:nvSpPr>
            <p:cNvPr id="44" name="Google Shape;44;p21"/>
            <p:cNvSpPr/>
            <p:nvPr/>
          </p:nvSpPr>
          <p:spPr>
            <a:xfrm>
              <a:off x="9682912" y="8965"/>
              <a:ext cx="2402541" cy="600635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19050">
              <a:solidFill>
                <a:srgbClr val="00206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" name="Google Shape;45;p21"/>
            <p:cNvSpPr txBox="1"/>
            <p:nvPr/>
          </p:nvSpPr>
          <p:spPr>
            <a:xfrm>
              <a:off x="9803934" y="193190"/>
              <a:ext cx="2160495" cy="2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7700">
              <a:spAutoFit/>
            </a:bodyPr>
            <a:lstStyle/>
            <a:p>
              <a:pPr indent="0" lvl="0" marL="7701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1" lang="en-IN" sz="1400" u="none" cap="none" strike="noStrike">
                  <a:solidFill>
                    <a:srgbClr val="422C75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Go, change the world</a:t>
              </a:r>
              <a:endParaRPr b="1" i="0" sz="14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oogle Shape;47;p22"/>
          <p:cNvGrpSpPr/>
          <p:nvPr/>
        </p:nvGrpSpPr>
        <p:grpSpPr>
          <a:xfrm>
            <a:off x="-35002" y="0"/>
            <a:ext cx="12191145" cy="6858000"/>
            <a:chOff x="-35003" y="-1"/>
            <a:chExt cx="12191144" cy="6858000"/>
          </a:xfrm>
        </p:grpSpPr>
        <p:sp>
          <p:nvSpPr>
            <p:cNvPr id="48" name="Google Shape;48;p22"/>
            <p:cNvSpPr/>
            <p:nvPr/>
          </p:nvSpPr>
          <p:spPr>
            <a:xfrm>
              <a:off x="-35003" y="-1"/>
              <a:ext cx="12191144" cy="6858000"/>
            </a:xfrm>
            <a:prstGeom prst="rect">
              <a:avLst/>
            </a:prstGeom>
            <a:solidFill>
              <a:schemeClr val="lt1">
                <a:alpha val="98824"/>
              </a:schemeClr>
            </a:solidFill>
            <a:ln cap="flat" cmpd="sng" w="76200">
              <a:solidFill>
                <a:srgbClr val="005893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92"/>
                <a:buFont typeface="Arial"/>
                <a:buNone/>
              </a:pPr>
              <a:r>
                <a:t/>
              </a:r>
              <a:endParaRPr b="0" i="0" sz="1092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9" name="Google Shape;49;p22"/>
            <p:cNvGrpSpPr/>
            <p:nvPr/>
          </p:nvGrpSpPr>
          <p:grpSpPr>
            <a:xfrm>
              <a:off x="0" y="-1"/>
              <a:ext cx="1174375" cy="932329"/>
              <a:chOff x="1" y="0"/>
              <a:chExt cx="995082" cy="663388"/>
            </a:xfrm>
          </p:grpSpPr>
          <p:sp>
            <p:nvSpPr>
              <p:cNvPr id="50" name="Google Shape;50;p22"/>
              <p:cNvSpPr/>
              <p:nvPr/>
            </p:nvSpPr>
            <p:spPr>
              <a:xfrm>
                <a:off x="1" y="0"/>
                <a:ext cx="995082" cy="663388"/>
              </a:xfrm>
              <a:custGeom>
                <a:rect b="b" l="l" r="r" t="t"/>
                <a:pathLst>
                  <a:path extrusionOk="0" h="5134610" w="7436484">
                    <a:moveTo>
                      <a:pt x="7435941" y="0"/>
                    </a:moveTo>
                    <a:lnTo>
                      <a:pt x="0" y="0"/>
                    </a:lnTo>
                    <a:lnTo>
                      <a:pt x="0" y="5134513"/>
                    </a:lnTo>
                    <a:lnTo>
                      <a:pt x="7435941" y="0"/>
                    </a:lnTo>
                    <a:close/>
                  </a:path>
                </a:pathLst>
              </a:custGeom>
              <a:solidFill>
                <a:srgbClr val="005893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92"/>
                  <a:buFont typeface="Arial"/>
                  <a:buNone/>
                </a:pPr>
                <a:r>
                  <a:t/>
                </a:r>
                <a:endParaRPr b="0" i="0" sz="1092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" name="Google Shape;51;p22"/>
              <p:cNvSpPr/>
              <p:nvPr/>
            </p:nvSpPr>
            <p:spPr>
              <a:xfrm>
                <a:off x="73957" y="36743"/>
                <a:ext cx="383242" cy="310714"/>
              </a:xfrm>
              <a:prstGeom prst="rect">
                <a:avLst/>
              </a:prstGeom>
              <a:blipFill rotWithShape="1">
                <a:blip r:embed="rId2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92"/>
                  <a:buFont typeface="Arial"/>
                  <a:buNone/>
                </a:pPr>
                <a:r>
                  <a:t/>
                </a:r>
                <a:endParaRPr b="0" i="0" sz="1092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52" name="Google Shape;52;p22"/>
          <p:cNvSpPr txBox="1"/>
          <p:nvPr>
            <p:ph type="title"/>
          </p:nvPr>
        </p:nvSpPr>
        <p:spPr>
          <a:xfrm>
            <a:off x="839789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2"/>
          <p:cNvSpPr txBox="1"/>
          <p:nvPr>
            <p:ph idx="1" type="body"/>
          </p:nvPr>
        </p:nvSpPr>
        <p:spPr>
          <a:xfrm>
            <a:off x="839789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4" name="Google Shape;54;p22"/>
          <p:cNvSpPr txBox="1"/>
          <p:nvPr>
            <p:ph idx="2" type="body"/>
          </p:nvPr>
        </p:nvSpPr>
        <p:spPr>
          <a:xfrm>
            <a:off x="839789" y="2505076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22"/>
          <p:cNvSpPr txBox="1"/>
          <p:nvPr>
            <p:ph idx="3" type="body"/>
          </p:nvPr>
        </p:nvSpPr>
        <p:spPr>
          <a:xfrm>
            <a:off x="6172202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6" name="Google Shape;56;p22"/>
          <p:cNvSpPr txBox="1"/>
          <p:nvPr>
            <p:ph idx="4" type="body"/>
          </p:nvPr>
        </p:nvSpPr>
        <p:spPr>
          <a:xfrm>
            <a:off x="6172202" y="2505076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22"/>
          <p:cNvSpPr txBox="1"/>
          <p:nvPr>
            <p:ph idx="10" type="dt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2"/>
          <p:cNvSpPr txBox="1"/>
          <p:nvPr>
            <p:ph idx="11" type="ftr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2"/>
          <p:cNvSpPr txBox="1"/>
          <p:nvPr>
            <p:ph idx="12" type="sldNum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grpSp>
        <p:nvGrpSpPr>
          <p:cNvPr id="60" name="Google Shape;60;p22"/>
          <p:cNvGrpSpPr/>
          <p:nvPr/>
        </p:nvGrpSpPr>
        <p:grpSpPr>
          <a:xfrm>
            <a:off x="9842217" y="17838"/>
            <a:ext cx="2313924" cy="600635"/>
            <a:chOff x="9682912" y="8965"/>
            <a:chExt cx="2402541" cy="600635"/>
          </a:xfrm>
        </p:grpSpPr>
        <p:sp>
          <p:nvSpPr>
            <p:cNvPr id="61" name="Google Shape;61;p22"/>
            <p:cNvSpPr/>
            <p:nvPr/>
          </p:nvSpPr>
          <p:spPr>
            <a:xfrm>
              <a:off x="9682912" y="8965"/>
              <a:ext cx="2402541" cy="600635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19050">
              <a:solidFill>
                <a:srgbClr val="00206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Google Shape;62;p22"/>
            <p:cNvSpPr txBox="1"/>
            <p:nvPr/>
          </p:nvSpPr>
          <p:spPr>
            <a:xfrm>
              <a:off x="9803934" y="193190"/>
              <a:ext cx="2160495" cy="2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7700">
              <a:spAutoFit/>
            </a:bodyPr>
            <a:lstStyle/>
            <a:p>
              <a:pPr indent="0" lvl="0" marL="7701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1" lang="en-IN" sz="1400" u="none" cap="none" strike="noStrike">
                  <a:solidFill>
                    <a:srgbClr val="422C75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Go, change the world</a:t>
              </a:r>
              <a:endParaRPr b="1" i="0" sz="14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3"/>
          <p:cNvSpPr/>
          <p:nvPr/>
        </p:nvSpPr>
        <p:spPr>
          <a:xfrm>
            <a:off x="856" y="0"/>
            <a:ext cx="12191145" cy="6858000"/>
          </a:xfrm>
          <a:prstGeom prst="rect">
            <a:avLst/>
          </a:prstGeom>
          <a:solidFill>
            <a:schemeClr val="lt1">
              <a:alpha val="98824"/>
            </a:schemeClr>
          </a:solidFill>
          <a:ln cap="flat" cmpd="sng" w="76200">
            <a:solidFill>
              <a:srgbClr val="005893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92"/>
              <a:buFont typeface="Arial"/>
              <a:buNone/>
            </a:pPr>
            <a:r>
              <a:t/>
            </a:r>
            <a:endParaRPr b="0" i="0" sz="1092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3"/>
          <p:cNvSpPr txBox="1"/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3"/>
          <p:cNvSpPr txBox="1"/>
          <p:nvPr>
            <p:ph idx="10" type="dt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3"/>
          <p:cNvSpPr txBox="1"/>
          <p:nvPr>
            <p:ph idx="11" type="ftr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3"/>
          <p:cNvSpPr txBox="1"/>
          <p:nvPr>
            <p:ph idx="12" type="sldNum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grpSp>
        <p:nvGrpSpPr>
          <p:cNvPr id="69" name="Google Shape;69;p23"/>
          <p:cNvGrpSpPr/>
          <p:nvPr/>
        </p:nvGrpSpPr>
        <p:grpSpPr>
          <a:xfrm>
            <a:off x="0" y="1"/>
            <a:ext cx="1174375" cy="932329"/>
            <a:chOff x="1" y="0"/>
            <a:chExt cx="995082" cy="663388"/>
          </a:xfrm>
        </p:grpSpPr>
        <p:sp>
          <p:nvSpPr>
            <p:cNvPr id="70" name="Google Shape;70;p23"/>
            <p:cNvSpPr/>
            <p:nvPr/>
          </p:nvSpPr>
          <p:spPr>
            <a:xfrm>
              <a:off x="1" y="0"/>
              <a:ext cx="995082" cy="663388"/>
            </a:xfrm>
            <a:custGeom>
              <a:rect b="b" l="l" r="r" t="t"/>
              <a:pathLst>
                <a:path extrusionOk="0" h="5134610" w="7436484">
                  <a:moveTo>
                    <a:pt x="7435941" y="0"/>
                  </a:moveTo>
                  <a:lnTo>
                    <a:pt x="0" y="0"/>
                  </a:lnTo>
                  <a:lnTo>
                    <a:pt x="0" y="5134513"/>
                  </a:lnTo>
                  <a:lnTo>
                    <a:pt x="7435941" y="0"/>
                  </a:lnTo>
                  <a:close/>
                </a:path>
              </a:pathLst>
            </a:custGeom>
            <a:solidFill>
              <a:srgbClr val="00589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92"/>
                <a:buFont typeface="Arial"/>
                <a:buNone/>
              </a:pPr>
              <a:r>
                <a:t/>
              </a:r>
              <a:endParaRPr b="0" i="0" sz="109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" name="Google Shape;71;p23"/>
            <p:cNvSpPr/>
            <p:nvPr/>
          </p:nvSpPr>
          <p:spPr>
            <a:xfrm>
              <a:off x="73957" y="36743"/>
              <a:ext cx="383242" cy="310714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92"/>
                <a:buFont typeface="Arial"/>
                <a:buNone/>
              </a:pPr>
              <a:r>
                <a:t/>
              </a:r>
              <a:endParaRPr b="0" i="0" sz="109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2" name="Google Shape;72;p23"/>
          <p:cNvGrpSpPr/>
          <p:nvPr/>
        </p:nvGrpSpPr>
        <p:grpSpPr>
          <a:xfrm>
            <a:off x="9842217" y="17838"/>
            <a:ext cx="2313924" cy="600635"/>
            <a:chOff x="9682912" y="8965"/>
            <a:chExt cx="2402541" cy="600635"/>
          </a:xfrm>
        </p:grpSpPr>
        <p:sp>
          <p:nvSpPr>
            <p:cNvPr id="73" name="Google Shape;73;p23"/>
            <p:cNvSpPr/>
            <p:nvPr/>
          </p:nvSpPr>
          <p:spPr>
            <a:xfrm>
              <a:off x="9682912" y="8965"/>
              <a:ext cx="2402541" cy="600635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19050">
              <a:solidFill>
                <a:srgbClr val="00206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" name="Google Shape;74;p23"/>
            <p:cNvSpPr txBox="1"/>
            <p:nvPr/>
          </p:nvSpPr>
          <p:spPr>
            <a:xfrm>
              <a:off x="9803934" y="193190"/>
              <a:ext cx="2160495" cy="2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7700">
              <a:spAutoFit/>
            </a:bodyPr>
            <a:lstStyle/>
            <a:p>
              <a:pPr indent="0" lvl="0" marL="7701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1" lang="en-IN" sz="1400" u="none" cap="none" strike="noStrike">
                  <a:solidFill>
                    <a:srgbClr val="422C75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Go, change the world</a:t>
              </a:r>
              <a:endParaRPr b="1" i="0" sz="14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4"/>
          <p:cNvSpPr/>
          <p:nvPr/>
        </p:nvSpPr>
        <p:spPr>
          <a:xfrm>
            <a:off x="856" y="0"/>
            <a:ext cx="12191145" cy="6858000"/>
          </a:xfrm>
          <a:prstGeom prst="rect">
            <a:avLst/>
          </a:prstGeom>
          <a:solidFill>
            <a:schemeClr val="lt1">
              <a:alpha val="98824"/>
            </a:schemeClr>
          </a:solidFill>
          <a:ln cap="flat" cmpd="sng" w="76200">
            <a:solidFill>
              <a:srgbClr val="005893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92"/>
              <a:buFont typeface="Arial"/>
              <a:buNone/>
            </a:pPr>
            <a:r>
              <a:t/>
            </a:r>
            <a:endParaRPr b="0" i="0" sz="1092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24"/>
          <p:cNvSpPr txBox="1"/>
          <p:nvPr>
            <p:ph idx="10" type="dt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1" type="ftr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4"/>
          <p:cNvSpPr txBox="1"/>
          <p:nvPr>
            <p:ph idx="12" type="sldNum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grpSp>
        <p:nvGrpSpPr>
          <p:cNvPr id="80" name="Google Shape;80;p24"/>
          <p:cNvGrpSpPr/>
          <p:nvPr/>
        </p:nvGrpSpPr>
        <p:grpSpPr>
          <a:xfrm>
            <a:off x="9842217" y="17838"/>
            <a:ext cx="2313924" cy="600635"/>
            <a:chOff x="9682912" y="8965"/>
            <a:chExt cx="2402541" cy="600635"/>
          </a:xfrm>
        </p:grpSpPr>
        <p:sp>
          <p:nvSpPr>
            <p:cNvPr id="81" name="Google Shape;81;p24"/>
            <p:cNvSpPr/>
            <p:nvPr/>
          </p:nvSpPr>
          <p:spPr>
            <a:xfrm>
              <a:off x="9682912" y="8965"/>
              <a:ext cx="2402541" cy="600635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19050">
              <a:solidFill>
                <a:srgbClr val="00206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" name="Google Shape;82;p24"/>
            <p:cNvSpPr txBox="1"/>
            <p:nvPr/>
          </p:nvSpPr>
          <p:spPr>
            <a:xfrm>
              <a:off x="9803934" y="193190"/>
              <a:ext cx="2160495" cy="2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7700">
              <a:spAutoFit/>
            </a:bodyPr>
            <a:lstStyle/>
            <a:p>
              <a:pPr indent="0" lvl="0" marL="7701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1" lang="en-IN" sz="1400" u="none" cap="none" strike="noStrike">
                  <a:solidFill>
                    <a:srgbClr val="422C75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Go, change the world</a:t>
              </a:r>
              <a:endParaRPr b="1" i="0" sz="14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</p:txBody>
        </p:sp>
      </p:grpSp>
      <p:grpSp>
        <p:nvGrpSpPr>
          <p:cNvPr id="83" name="Google Shape;83;p24"/>
          <p:cNvGrpSpPr/>
          <p:nvPr/>
        </p:nvGrpSpPr>
        <p:grpSpPr>
          <a:xfrm>
            <a:off x="0" y="1"/>
            <a:ext cx="1174375" cy="932329"/>
            <a:chOff x="1" y="0"/>
            <a:chExt cx="995082" cy="663388"/>
          </a:xfrm>
        </p:grpSpPr>
        <p:sp>
          <p:nvSpPr>
            <p:cNvPr id="84" name="Google Shape;84;p24"/>
            <p:cNvSpPr/>
            <p:nvPr/>
          </p:nvSpPr>
          <p:spPr>
            <a:xfrm>
              <a:off x="1" y="0"/>
              <a:ext cx="995082" cy="663388"/>
            </a:xfrm>
            <a:custGeom>
              <a:rect b="b" l="l" r="r" t="t"/>
              <a:pathLst>
                <a:path extrusionOk="0" h="5134610" w="7436484">
                  <a:moveTo>
                    <a:pt x="7435941" y="0"/>
                  </a:moveTo>
                  <a:lnTo>
                    <a:pt x="0" y="0"/>
                  </a:lnTo>
                  <a:lnTo>
                    <a:pt x="0" y="5134513"/>
                  </a:lnTo>
                  <a:lnTo>
                    <a:pt x="7435941" y="0"/>
                  </a:lnTo>
                  <a:close/>
                </a:path>
              </a:pathLst>
            </a:custGeom>
            <a:solidFill>
              <a:srgbClr val="00589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92"/>
                <a:buFont typeface="Arial"/>
                <a:buNone/>
              </a:pPr>
              <a:r>
                <a:t/>
              </a:r>
              <a:endParaRPr b="0" i="0" sz="109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" name="Google Shape;85;p24"/>
            <p:cNvSpPr/>
            <p:nvPr/>
          </p:nvSpPr>
          <p:spPr>
            <a:xfrm>
              <a:off x="73957" y="36743"/>
              <a:ext cx="383242" cy="310714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92"/>
                <a:buFont typeface="Arial"/>
                <a:buNone/>
              </a:pPr>
              <a:r>
                <a:t/>
              </a:r>
              <a:endParaRPr b="0" i="0" sz="109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86" name="Google Shape;8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51096" y="1605964"/>
            <a:ext cx="5889812" cy="3646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p25"/>
          <p:cNvGrpSpPr/>
          <p:nvPr/>
        </p:nvGrpSpPr>
        <p:grpSpPr>
          <a:xfrm>
            <a:off x="-35002" y="0"/>
            <a:ext cx="12191145" cy="6858000"/>
            <a:chOff x="-35003" y="-1"/>
            <a:chExt cx="12191144" cy="6858000"/>
          </a:xfrm>
        </p:grpSpPr>
        <p:sp>
          <p:nvSpPr>
            <p:cNvPr id="89" name="Google Shape;89;p25"/>
            <p:cNvSpPr/>
            <p:nvPr/>
          </p:nvSpPr>
          <p:spPr>
            <a:xfrm>
              <a:off x="-35003" y="-1"/>
              <a:ext cx="12191144" cy="6858000"/>
            </a:xfrm>
            <a:prstGeom prst="rect">
              <a:avLst/>
            </a:prstGeom>
            <a:solidFill>
              <a:schemeClr val="lt1">
                <a:alpha val="98824"/>
              </a:schemeClr>
            </a:solidFill>
            <a:ln cap="flat" cmpd="sng" w="76200">
              <a:solidFill>
                <a:srgbClr val="005893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92"/>
                <a:buFont typeface="Arial"/>
                <a:buNone/>
              </a:pPr>
              <a:r>
                <a:t/>
              </a:r>
              <a:endParaRPr b="0" i="0" sz="1092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0" name="Google Shape;90;p25"/>
            <p:cNvGrpSpPr/>
            <p:nvPr/>
          </p:nvGrpSpPr>
          <p:grpSpPr>
            <a:xfrm>
              <a:off x="0" y="-1"/>
              <a:ext cx="1174375" cy="932329"/>
              <a:chOff x="1" y="0"/>
              <a:chExt cx="995082" cy="663388"/>
            </a:xfrm>
          </p:grpSpPr>
          <p:sp>
            <p:nvSpPr>
              <p:cNvPr id="91" name="Google Shape;91;p25"/>
              <p:cNvSpPr/>
              <p:nvPr/>
            </p:nvSpPr>
            <p:spPr>
              <a:xfrm>
                <a:off x="1" y="0"/>
                <a:ext cx="995082" cy="663388"/>
              </a:xfrm>
              <a:custGeom>
                <a:rect b="b" l="l" r="r" t="t"/>
                <a:pathLst>
                  <a:path extrusionOk="0" h="5134610" w="7436484">
                    <a:moveTo>
                      <a:pt x="7435941" y="0"/>
                    </a:moveTo>
                    <a:lnTo>
                      <a:pt x="0" y="0"/>
                    </a:lnTo>
                    <a:lnTo>
                      <a:pt x="0" y="5134513"/>
                    </a:lnTo>
                    <a:lnTo>
                      <a:pt x="7435941" y="0"/>
                    </a:lnTo>
                    <a:close/>
                  </a:path>
                </a:pathLst>
              </a:custGeom>
              <a:solidFill>
                <a:srgbClr val="005893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92"/>
                  <a:buFont typeface="Arial"/>
                  <a:buNone/>
                </a:pPr>
                <a:r>
                  <a:t/>
                </a:r>
                <a:endParaRPr b="0" i="0" sz="1092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" name="Google Shape;92;p25"/>
              <p:cNvSpPr/>
              <p:nvPr/>
            </p:nvSpPr>
            <p:spPr>
              <a:xfrm>
                <a:off x="73957" y="36743"/>
                <a:ext cx="383242" cy="310714"/>
              </a:xfrm>
              <a:prstGeom prst="rect">
                <a:avLst/>
              </a:prstGeom>
              <a:blipFill rotWithShape="1">
                <a:blip r:embed="rId2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92"/>
                  <a:buFont typeface="Arial"/>
                  <a:buNone/>
                </a:pPr>
                <a:r>
                  <a:t/>
                </a:r>
                <a:endParaRPr b="0" i="0" sz="1092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93" name="Google Shape;93;p25"/>
          <p:cNvSpPr txBox="1"/>
          <p:nvPr>
            <p:ph type="title"/>
          </p:nvPr>
        </p:nvSpPr>
        <p:spPr>
          <a:xfrm>
            <a:off x="839790" y="457200"/>
            <a:ext cx="3932236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5"/>
          <p:cNvSpPr txBox="1"/>
          <p:nvPr>
            <p:ph idx="1" type="body"/>
          </p:nvPr>
        </p:nvSpPr>
        <p:spPr>
          <a:xfrm>
            <a:off x="5183188" y="987425"/>
            <a:ext cx="6172201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95" name="Google Shape;95;p25"/>
          <p:cNvSpPr txBox="1"/>
          <p:nvPr>
            <p:ph idx="2" type="body"/>
          </p:nvPr>
        </p:nvSpPr>
        <p:spPr>
          <a:xfrm>
            <a:off x="839790" y="2057400"/>
            <a:ext cx="3932236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96" name="Google Shape;96;p25"/>
          <p:cNvSpPr txBox="1"/>
          <p:nvPr>
            <p:ph idx="10" type="dt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5"/>
          <p:cNvSpPr txBox="1"/>
          <p:nvPr>
            <p:ph idx="11" type="ftr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5"/>
          <p:cNvSpPr txBox="1"/>
          <p:nvPr>
            <p:ph idx="12" type="sldNum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grpSp>
        <p:nvGrpSpPr>
          <p:cNvPr id="99" name="Google Shape;99;p25"/>
          <p:cNvGrpSpPr/>
          <p:nvPr/>
        </p:nvGrpSpPr>
        <p:grpSpPr>
          <a:xfrm>
            <a:off x="9842217" y="17838"/>
            <a:ext cx="2313924" cy="600635"/>
            <a:chOff x="9682912" y="8965"/>
            <a:chExt cx="2402541" cy="600635"/>
          </a:xfrm>
        </p:grpSpPr>
        <p:sp>
          <p:nvSpPr>
            <p:cNvPr id="100" name="Google Shape;100;p25"/>
            <p:cNvSpPr/>
            <p:nvPr/>
          </p:nvSpPr>
          <p:spPr>
            <a:xfrm>
              <a:off x="9682912" y="8965"/>
              <a:ext cx="2402541" cy="600635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19050">
              <a:solidFill>
                <a:srgbClr val="00206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25"/>
            <p:cNvSpPr txBox="1"/>
            <p:nvPr/>
          </p:nvSpPr>
          <p:spPr>
            <a:xfrm>
              <a:off x="9803934" y="193190"/>
              <a:ext cx="2160495" cy="2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7700">
              <a:spAutoFit/>
            </a:bodyPr>
            <a:lstStyle/>
            <a:p>
              <a:pPr indent="0" lvl="0" marL="7701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1" lang="en-IN" sz="1400" u="none" cap="none" strike="noStrike">
                  <a:solidFill>
                    <a:srgbClr val="422C75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Go, change the world</a:t>
              </a:r>
              <a:endParaRPr b="1" i="0" sz="14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6"/>
          <p:cNvSpPr txBox="1"/>
          <p:nvPr>
            <p:ph type="title"/>
          </p:nvPr>
        </p:nvSpPr>
        <p:spPr>
          <a:xfrm>
            <a:off x="839790" y="457200"/>
            <a:ext cx="3932236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6"/>
          <p:cNvSpPr/>
          <p:nvPr>
            <p:ph idx="2" type="pic"/>
          </p:nvPr>
        </p:nvSpPr>
        <p:spPr>
          <a:xfrm>
            <a:off x="5183188" y="987425"/>
            <a:ext cx="6172201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05" name="Google Shape;105;p26"/>
          <p:cNvSpPr txBox="1"/>
          <p:nvPr>
            <p:ph idx="1" type="body"/>
          </p:nvPr>
        </p:nvSpPr>
        <p:spPr>
          <a:xfrm>
            <a:off x="839790" y="2057400"/>
            <a:ext cx="3932236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06" name="Google Shape;106;p26"/>
          <p:cNvSpPr txBox="1"/>
          <p:nvPr>
            <p:ph idx="10" type="dt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26"/>
          <p:cNvSpPr txBox="1"/>
          <p:nvPr>
            <p:ph idx="11" type="ftr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6"/>
          <p:cNvSpPr txBox="1"/>
          <p:nvPr>
            <p:ph idx="12" type="sldNum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7"/>
          <p:cNvSpPr txBox="1"/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7"/>
          <p:cNvSpPr txBox="1"/>
          <p:nvPr>
            <p:ph idx="1" type="body"/>
          </p:nvPr>
        </p:nvSpPr>
        <p:spPr>
          <a:xfrm rot="5400000">
            <a:off x="3920333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2" name="Google Shape;112;p27"/>
          <p:cNvSpPr txBox="1"/>
          <p:nvPr>
            <p:ph idx="10" type="dt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7"/>
          <p:cNvSpPr txBox="1"/>
          <p:nvPr>
            <p:ph idx="11" type="ftr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7"/>
          <p:cNvSpPr txBox="1"/>
          <p:nvPr>
            <p:ph idx="12" type="sldNum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8"/>
          <p:cNvSpPr txBox="1"/>
          <p:nvPr>
            <p:ph type="title"/>
          </p:nvPr>
        </p:nvSpPr>
        <p:spPr>
          <a:xfrm rot="5400000">
            <a:off x="7133430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8"/>
          <p:cNvSpPr txBox="1"/>
          <p:nvPr>
            <p:ph idx="1" type="body"/>
          </p:nvPr>
        </p:nvSpPr>
        <p:spPr>
          <a:xfrm rot="5400000">
            <a:off x="1799430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p28"/>
          <p:cNvSpPr txBox="1"/>
          <p:nvPr>
            <p:ph idx="10" type="dt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28"/>
          <p:cNvSpPr txBox="1"/>
          <p:nvPr>
            <p:ph idx="11" type="ftr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28"/>
          <p:cNvSpPr txBox="1"/>
          <p:nvPr>
            <p:ph idx="12" type="sldNum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/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7"/>
          <p:cNvSpPr txBox="1"/>
          <p:nvPr>
            <p:ph idx="1" type="body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7"/>
          <p:cNvSpPr txBox="1"/>
          <p:nvPr>
            <p:ph idx="10" type="dt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7"/>
          <p:cNvSpPr txBox="1"/>
          <p:nvPr>
            <p:ph idx="11" type="ftr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7"/>
          <p:cNvSpPr txBox="1"/>
          <p:nvPr>
            <p:ph idx="12" type="sldNum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"/>
          <p:cNvSpPr txBox="1"/>
          <p:nvPr>
            <p:ph idx="12" type="sldNum"/>
          </p:nvPr>
        </p:nvSpPr>
        <p:spPr>
          <a:xfrm>
            <a:off x="9273988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descr="A building with a roof&#10;&#10;Description automatically generated" id="126" name="Google Shape;126;p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1879" y="1067010"/>
            <a:ext cx="11421075" cy="3894085"/>
          </a:xfrm>
          <a:prstGeom prst="roundRect">
            <a:avLst>
              <a:gd fmla="val 16667" name="adj"/>
            </a:avLst>
          </a:prstGeom>
          <a:noFill/>
          <a:ln>
            <a:noFill/>
          </a:ln>
          <a:effectLst>
            <a:outerShdw blurRad="76200" rotWithShape="0" algn="tl" dir="7800000" dist="38100">
              <a:srgbClr val="000000">
                <a:alpha val="40000"/>
              </a:srgbClr>
            </a:outerShdw>
          </a:effectLst>
        </p:spPr>
      </p:pic>
      <p:sp>
        <p:nvSpPr>
          <p:cNvPr id="127" name="Google Shape;127;p1"/>
          <p:cNvSpPr/>
          <p:nvPr/>
        </p:nvSpPr>
        <p:spPr>
          <a:xfrm>
            <a:off x="349046" y="4146929"/>
            <a:ext cx="11493908" cy="1004814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 cap="flat" cmpd="sng" w="12700">
            <a:solidFill>
              <a:srgbClr val="42719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en-IN" sz="3600">
                <a:solidFill>
                  <a:srgbClr val="FF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OPTIFINERS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"/>
          <p:cNvSpPr/>
          <p:nvPr/>
        </p:nvSpPr>
        <p:spPr>
          <a:xfrm>
            <a:off x="349045" y="5288583"/>
            <a:ext cx="11421075" cy="1004814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 cap="flat" cmpd="sng" w="12700">
            <a:solidFill>
              <a:srgbClr val="42719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en-IN" sz="3200">
                <a:solidFill>
                  <a:srgbClr val="FF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INDUSTRIAL ENGINEERING &amp; MANAGEMENT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"/>
          <p:cNvSpPr txBox="1"/>
          <p:nvPr>
            <p:ph idx="12" type="sldNum"/>
          </p:nvPr>
        </p:nvSpPr>
        <p:spPr>
          <a:xfrm>
            <a:off x="9273988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2103120" y="182880"/>
            <a:ext cx="969264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3600" b="1" i="0">
                <a:solidFill>
                  <a:srgbClr val="C00000"/>
                </a:solidFill>
                <a:latin typeface="Bookman Old Style"/>
              </a:rPr>
              <a:t>Outline of Tentative Steps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03120" y="914400"/>
            <a:ext cx="96926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600" b="1" i="0">
                <a:solidFill>
                  <a:srgbClr val="002060"/>
                </a:solidFill>
                <a:latin typeface="Bookman Old Style"/>
              </a:rPr>
              <a:t>OptiProductio: Smart Production Workflow and Resource Optimization System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502920" y="1554480"/>
            <a:ext cx="3520440" cy="777240"/>
          </a:xfrm>
          <a:prstGeom prst="round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000" b="1">
                <a:solidFill>
                  <a:srgbClr val="FFFFFF"/>
                </a:solidFill>
                <a:latin typeface="Bookman Old Style"/>
              </a:rPr>
              <a:t>Phase I</a:t>
            </a:r>
          </a:p>
          <a:p>
            <a:pPr algn="ctr"/>
            <a:r>
              <a:rPr sz="1800" b="0">
                <a:solidFill>
                  <a:srgbClr val="FFFFFF"/>
                </a:solidFill>
                <a:latin typeface="Bookman Old Style"/>
              </a:rPr>
              <a:t>29 Oct 2026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502920" y="2468880"/>
            <a:ext cx="3520440" cy="3246120"/>
          </a:xfrm>
          <a:prstGeom prst="roundRect">
            <a:avLst>
              <a:gd name="adj" fmla="val 5000"/>
            </a:avLst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640080" y="2560320"/>
            <a:ext cx="3291840" cy="3108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 i="0">
                <a:solidFill>
                  <a:srgbClr val="002060"/>
                </a:solidFill>
                <a:latin typeface="Bookman Old Style"/>
              </a:rPr>
              <a:t>• Pick and define the problem</a:t>
            </a:r>
          </a:p>
          <a:p>
            <a:pPr algn="l"/>
            <a:r>
              <a:rPr sz="1700" b="0" i="0">
                <a:solidFill>
                  <a:srgbClr val="002060"/>
                </a:solidFill>
                <a:latin typeface="Bookman Old Style"/>
              </a:rPr>
              <a:t>• Literature review</a:t>
            </a:r>
          </a:p>
          <a:p>
            <a:pPr algn="l"/>
            <a:r>
              <a:rPr sz="1700" b="0" i="0">
                <a:solidFill>
                  <a:srgbClr val="002060"/>
                </a:solidFill>
                <a:latin typeface="Bookman Old Style"/>
              </a:rPr>
              <a:t>• SMART objectives (PO1 to PO4)</a:t>
            </a:r>
          </a:p>
          <a:p>
            <a:pPr algn="l"/>
            <a:r>
              <a:rPr sz="1700" b="0" i="0">
                <a:solidFill>
                  <a:srgbClr val="002060"/>
                </a:solidFill>
                <a:latin typeface="Bookman Old Style"/>
              </a:rPr>
              <a:t>• Design the 3-station line and parts list</a:t>
            </a:r>
          </a:p>
          <a:p>
            <a:pPr algn="l"/>
            <a:r>
              <a:rPr sz="1700" b="0" i="0">
                <a:solidFill>
                  <a:srgbClr val="002060"/>
                </a:solidFill>
                <a:latin typeface="Bookman Old Style"/>
              </a:rPr>
              <a:t>• Plan the method and timeline</a:t>
            </a:r>
          </a:p>
        </p:txBody>
      </p:sp>
      <p:cxnSp>
        <p:nvCxnSpPr>
          <p:cNvPr id="139" name="Connector 138"/>
          <p:cNvCxnSpPr/>
          <p:nvPr/>
        </p:nvCxnSpPr>
        <p:spPr>
          <a:xfrm>
            <a:off x="4050791" y="1938528"/>
            <a:ext cx="219457" cy="0"/>
          </a:xfrm>
          <a:prstGeom prst="line">
            <a:avLst/>
          </a:prstGeom>
          <a:ln w="25400">
            <a:solidFill>
              <a:srgbClr val="002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Rounded Rectangle 139"/>
          <p:cNvSpPr/>
          <p:nvPr/>
        </p:nvSpPr>
        <p:spPr>
          <a:xfrm>
            <a:off x="4297680" y="1554480"/>
            <a:ext cx="3520440" cy="777240"/>
          </a:xfrm>
          <a:prstGeom prst="round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000" b="1">
                <a:solidFill>
                  <a:srgbClr val="FFFFFF"/>
                </a:solidFill>
                <a:latin typeface="Bookman Old Style"/>
              </a:rPr>
              <a:t>Phase II</a:t>
            </a:r>
          </a:p>
          <a:p>
            <a:pPr algn="ctr"/>
            <a:r>
              <a:rPr sz="1800" b="0">
                <a:solidFill>
                  <a:srgbClr val="FF9B9B"/>
                </a:solidFill>
                <a:latin typeface="Bookman Old Style"/>
              </a:rPr>
              <a:t>__ / __ / 2026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4297680" y="2468880"/>
            <a:ext cx="3520440" cy="3246120"/>
          </a:xfrm>
          <a:prstGeom prst="roundRect">
            <a:avLst>
              <a:gd name="adj" fmla="val 5000"/>
            </a:avLst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4434840" y="2560320"/>
            <a:ext cx="3291840" cy="3108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 i="0">
                <a:solidFill>
                  <a:srgbClr val="002060"/>
                </a:solidFill>
                <a:latin typeface="Bookman Old Style"/>
              </a:rPr>
              <a:t>• Wire sensors to Arduino UNO</a:t>
            </a:r>
          </a:p>
          <a:p>
            <a:pPr algn="l"/>
            <a:r>
              <a:rPr sz="1700" b="0" i="0">
                <a:solidFill>
                  <a:srgbClr val="002060"/>
                </a:solidFill>
                <a:latin typeface="Bookman Old Style"/>
              </a:rPr>
              <a:t>• Python logger and dashboard</a:t>
            </a:r>
          </a:p>
          <a:p>
            <a:pPr algn="l"/>
            <a:r>
              <a:rPr sz="1700" b="0" i="0">
                <a:solidFill>
                  <a:srgbClr val="002060"/>
                </a:solidFill>
                <a:latin typeface="Bookman Old Style"/>
              </a:rPr>
              <a:t>• Check counts against a hand tally</a:t>
            </a:r>
          </a:p>
          <a:p>
            <a:pPr algn="l"/>
            <a:r>
              <a:rPr sz="1700" b="0" i="0">
                <a:solidFill>
                  <a:srgbClr val="002060"/>
                </a:solidFill>
                <a:latin typeface="Bookman Old Style"/>
              </a:rPr>
              <a:t>• First runs and partial results</a:t>
            </a:r>
          </a:p>
          <a:p>
            <a:pPr algn="l"/>
            <a:r>
              <a:rPr sz="1700" b="0" i="0">
                <a:solidFill>
                  <a:srgbClr val="002060"/>
                </a:solidFill>
                <a:latin typeface="Bookman Old Style"/>
              </a:rPr>
              <a:t>• Dashboard on Bosch public data</a:t>
            </a:r>
          </a:p>
        </p:txBody>
      </p:sp>
      <p:cxnSp>
        <p:nvCxnSpPr>
          <p:cNvPr id="143" name="Connector 142"/>
          <p:cNvCxnSpPr/>
          <p:nvPr/>
        </p:nvCxnSpPr>
        <p:spPr>
          <a:xfrm>
            <a:off x="7845552" y="1938528"/>
            <a:ext cx="219456" cy="0"/>
          </a:xfrm>
          <a:prstGeom prst="line">
            <a:avLst/>
          </a:prstGeom>
          <a:ln w="25400">
            <a:solidFill>
              <a:srgbClr val="002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4" name="Rounded Rectangle 143"/>
          <p:cNvSpPr/>
          <p:nvPr/>
        </p:nvSpPr>
        <p:spPr>
          <a:xfrm>
            <a:off x="8092440" y="1554480"/>
            <a:ext cx="3520440" cy="777240"/>
          </a:xfrm>
          <a:prstGeom prst="round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000" b="1">
                <a:solidFill>
                  <a:srgbClr val="FFFFFF"/>
                </a:solidFill>
                <a:latin typeface="Bookman Old Style"/>
              </a:rPr>
              <a:t>Phase III</a:t>
            </a:r>
          </a:p>
          <a:p>
            <a:pPr algn="ctr"/>
            <a:r>
              <a:rPr sz="1800" b="0">
                <a:solidFill>
                  <a:srgbClr val="FF9B9B"/>
                </a:solidFill>
                <a:latin typeface="Bookman Old Style"/>
              </a:rPr>
              <a:t>__ / __ / 2027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8092440" y="2468880"/>
            <a:ext cx="3520440" cy="3246120"/>
          </a:xfrm>
          <a:prstGeom prst="roundRect">
            <a:avLst>
              <a:gd name="adj" fmla="val 5000"/>
            </a:avLst>
          </a:prstGeom>
          <a:solidFill>
            <a:srgbClr val="E8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8229600" y="2560320"/>
            <a:ext cx="3291840" cy="3108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700" b="0" i="0">
                <a:solidFill>
                  <a:srgbClr val="002060"/>
                </a:solidFill>
                <a:latin typeface="Bookman Old Style"/>
              </a:rPr>
              <a:t>• Rebalance and WIP-limit experiments</a:t>
            </a:r>
          </a:p>
          <a:p>
            <a:pPr algn="l"/>
            <a:r>
              <a:rPr sz="1700" b="0" i="0">
                <a:solidFill>
                  <a:srgbClr val="002060"/>
                </a:solidFill>
                <a:latin typeface="Bookman Old Style"/>
              </a:rPr>
              <a:t>• Results and discussion</a:t>
            </a:r>
          </a:p>
          <a:p>
            <a:pPr algn="l"/>
            <a:r>
              <a:rPr sz="1700" b="0" i="0">
                <a:solidFill>
                  <a:srgbClr val="002060"/>
                </a:solidFill>
                <a:latin typeface="Bookman Old Style"/>
              </a:rPr>
              <a:t>• Live prototype demo</a:t>
            </a:r>
          </a:p>
          <a:p>
            <a:pPr algn="l"/>
            <a:r>
              <a:rPr sz="1700" b="0" i="0">
                <a:solidFill>
                  <a:srgbClr val="002060"/>
                </a:solidFill>
                <a:latin typeface="Bookman Old Style"/>
              </a:rPr>
              <a:t>• Report, poster and PPT</a:t>
            </a:r>
          </a:p>
          <a:p>
            <a:pPr algn="l"/>
            <a:r>
              <a:rPr sz="1700" b="0" i="0">
                <a:solidFill>
                  <a:srgbClr val="002060"/>
                </a:solidFill>
                <a:latin typeface="Bookman Old Style"/>
              </a:rPr>
              <a:t>• IEEE-format paper draft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502920" y="5806440"/>
            <a:ext cx="112471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1">
                <a:solidFill>
                  <a:srgbClr val="002060"/>
                </a:solidFill>
                <a:latin typeface="Bookman Old Style"/>
              </a:rPr>
              <a:t>Status today: Phase I planning done. Hardware build in progress. Red blanks = dates not announced yet.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"/>
          <p:cNvSpPr txBox="1"/>
          <p:nvPr>
            <p:ph idx="12" type="sldNum"/>
          </p:nvPr>
        </p:nvSpPr>
        <p:spPr>
          <a:xfrm>
            <a:off x="9273988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40" name="Google Shape;140;p4"/>
          <p:cNvSpPr txBox="1"/>
          <p:nvPr/>
        </p:nvSpPr>
        <p:spPr>
          <a:xfrm>
            <a:off x="2339498" y="178833"/>
            <a:ext cx="8551282" cy="6386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1" i="0" sz="32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 txBox="1"/>
          <p:nvPr/>
        </p:nvSpPr>
        <p:spPr>
          <a:xfrm>
            <a:off x="2182762" y="89747"/>
            <a:ext cx="8151863" cy="1319953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dash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IN" sz="4000" u="none" cap="none" strike="noStrike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EL Phase-I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IN" sz="4000" u="none" cap="none" strike="noStrike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Presentation Outline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4"/>
          <p:cNvSpPr txBox="1"/>
          <p:nvPr>
            <p:ph idx="1" type="body"/>
          </p:nvPr>
        </p:nvSpPr>
        <p:spPr>
          <a:xfrm>
            <a:off x="575733" y="1666874"/>
            <a:ext cx="11441457" cy="45100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lang="en-IN" sz="2000" b="0"/>
              <a:t>Introduction</a:t>
            </a:r>
          </a:p>
          <a:p>
            <a:pPr indent="-228600" lvl="0" marL="2286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lang="en-IN" sz="2000" b="0"/>
              <a:t>Literature Review</a:t>
            </a:r>
          </a:p>
          <a:p>
            <a:pPr indent="-228600" lvl="0" marL="2286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lang="en-IN" sz="2000" b="0"/>
              <a:t>Problem Definition</a:t>
            </a:r>
          </a:p>
          <a:p>
            <a:pPr indent="-228600" lvl="0" marL="2286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lang="en-IN" sz="2000" b="0"/>
              <a:t>Objectives</a:t>
            </a:r>
          </a:p>
          <a:p>
            <a:pPr indent="-228600" lvl="0" marL="2286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lang="en-IN" sz="2000" b="0"/>
              <a:t>Methodology and System Pipeline</a:t>
            </a:r>
          </a:p>
          <a:p>
            <a:pPr indent="-228600" lvl="0" marL="2286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lang="en-IN" sz="2000" b="0"/>
              <a:t>Measurement Parameters</a:t>
            </a:r>
          </a:p>
          <a:p>
            <a:pPr indent="-228600" lvl="0" marL="2286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lang="en-IN" sz="2000" b="0"/>
              <a:t>Research Process</a:t>
            </a:r>
          </a:p>
          <a:p>
            <a:pPr indent="-228600" lvl="0" marL="2286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lang="en-IN" sz="2000" b="0"/>
              <a:t>Proposed Outcomes</a:t>
            </a:r>
          </a:p>
          <a:p>
            <a:pPr indent="-228600" lvl="0" marL="2286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lang="en-IN" sz="2000" b="0"/>
              <a:t>Timeline of the Project</a:t>
            </a:r>
          </a:p>
          <a:p>
            <a:pPr indent="-228600" lvl="0" marL="2286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lang="en-IN" sz="2000" b="0"/>
              <a:t>Conclusion</a:t>
            </a:r>
          </a:p>
          <a:p>
            <a:pPr indent="-228600" lvl="0" marL="2286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lang="en-IN" sz="2000" b="0"/>
              <a:t>References</a:t>
            </a:r>
          </a:p>
          <a:p>
            <a:pPr indent="-228600" lvl="0" marL="2286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lang="en-IN" sz="2000" b="0"/>
              <a:t>Expected Outcome by the End of First Year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"/>
          <p:cNvSpPr txBox="1"/>
          <p:nvPr>
            <p:ph idx="1" type="body"/>
          </p:nvPr>
        </p:nvSpPr>
        <p:spPr>
          <a:xfrm>
            <a:off x="174813" y="1051560"/>
            <a:ext cx="11842377" cy="29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buNone/>
            </a:pPr>
            <a:r>
              <a:rPr lang="en-IN" sz="1700" b="1"/>
              <a:t>OVERVIEW OF THE TOPIC:</a:t>
            </a: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IN" sz="1700" b="1"/>
              <a:t xml:space="preserve">OptiProductio: </a:t>
            </a:r>
            <a:r>
              <a:rPr lang="en-IN" sz="1700" b="0"/>
              <a:t>a low-cost system that watches a small production line in real time and shows how well it is working.</a:t>
            </a: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IN" sz="1700" b="1"/>
              <a:t xml:space="preserve">How: </a:t>
            </a:r>
            <a:r>
              <a:rPr lang="en-IN" sz="1700" b="0"/>
              <a:t>sensors on a 3-station model line send every event (part done, part rejected, line stopped) to an Arduino UNO, which passes it to a Python dashboard on a laptop.</a:t>
            </a: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IN" sz="1700" b="1"/>
              <a:t xml:space="preserve">Why: </a:t>
            </a:r>
            <a:r>
              <a:rPr lang="en-IN" sz="1700" b="0"/>
              <a:t>small factories often record output by hand, so delays, pile-ups and the slowest station stay hidden until the end of the shift [2], [4].</a:t>
            </a: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IN" sz="1700" b="1"/>
              <a:t xml:space="preserve">What it adds: </a:t>
            </a:r>
            <a:r>
              <a:rPr lang="en-IN" sz="1700" b="0"/>
              <a:t>an alert when too many parts pile up inside the line (a WIP limit), based on the CONWIP idea [5].</a:t>
            </a:r>
          </a:p>
        </p:txBody>
      </p:sp>
      <p:sp>
        <p:nvSpPr>
          <p:cNvPr id="148" name="Google Shape;148;p5"/>
          <p:cNvSpPr txBox="1"/>
          <p:nvPr>
            <p:ph idx="12" type="sldNum"/>
          </p:nvPr>
        </p:nvSpPr>
        <p:spPr>
          <a:xfrm>
            <a:off x="9273988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IN"/>
              <a:t>Slide No. </a:t>
            </a: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49" name="Google Shape;149;p5"/>
          <p:cNvSpPr txBox="1"/>
          <p:nvPr/>
        </p:nvSpPr>
        <p:spPr>
          <a:xfrm>
            <a:off x="1386895" y="145670"/>
            <a:ext cx="9834426" cy="839401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dash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n-IN" sz="4000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INTRODUCTION</a:t>
            </a:r>
            <a:endParaRPr b="1" i="0" sz="4000" cap="none" strike="noStrike">
              <a:solidFill>
                <a:srgbClr val="C00000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50" name="Rounded Rectangle 149"/>
          <p:cNvSpPr/>
          <p:nvPr/>
        </p:nvSpPr>
        <p:spPr>
          <a:xfrm>
            <a:off x="411480" y="4206240"/>
            <a:ext cx="2697480" cy="1143000"/>
          </a:xfrm>
          <a:prstGeom prst="round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Bookman Old Style"/>
              </a:rPr>
              <a:t>Production count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Bookman Old Style"/>
              </a:rPr>
              <a:t>IR sensor at each station exit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3291840" y="4206240"/>
            <a:ext cx="2697480" cy="1143000"/>
          </a:xfrm>
          <a:prstGeom prst="round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Bookman Old Style"/>
              </a:rPr>
              <a:t>Cycle time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Bookman Old Style"/>
              </a:rPr>
              <a:t>time each station takes per part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6172200" y="4206240"/>
            <a:ext cx="2697480" cy="1143000"/>
          </a:xfrm>
          <a:prstGeom prst="round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Bookman Old Style"/>
              </a:rPr>
              <a:t>Inventory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Bookman Old Style"/>
              </a:rPr>
              <a:t>raw material bin level and WIP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9052559" y="4206240"/>
            <a:ext cx="2697480" cy="1143000"/>
          </a:xfrm>
          <a:prstGeom prst="round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Bookman Old Style"/>
              </a:rPr>
              <a:t>Workflow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Bookman Old Style"/>
              </a:rPr>
              <a:t>bottleneck, stops and pile-ups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411480" y="5486400"/>
            <a:ext cx="113385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1">
                <a:solidFill>
                  <a:srgbClr val="002060"/>
                </a:solidFill>
                <a:latin typeface="Bookman Old Style"/>
              </a:rPr>
              <a:t>EL topic: Smart Production Workflow and Resource Optimization System. Deliverable: production efficiency dashboard.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"/>
          <p:cNvSpPr txBox="1"/>
          <p:nvPr>
            <p:ph idx="12" type="sldNum"/>
          </p:nvPr>
        </p:nvSpPr>
        <p:spPr>
          <a:xfrm>
            <a:off x="9273988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56" name="Google Shape;156;p6"/>
          <p:cNvSpPr txBox="1"/>
          <p:nvPr/>
        </p:nvSpPr>
        <p:spPr>
          <a:xfrm>
            <a:off x="1710268" y="89747"/>
            <a:ext cx="9939866" cy="943186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dash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IN" sz="4000" u="none" cap="none" strike="noStrike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Literature Review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TextBox 156"/>
          <p:cNvSpPr txBox="1"/>
          <p:nvPr/>
        </p:nvSpPr>
        <p:spPr>
          <a:xfrm>
            <a:off x="365760" y="1024128"/>
            <a:ext cx="114300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1" i="0">
                <a:solidFill>
                  <a:srgbClr val="002060"/>
                </a:solidFill>
                <a:latin typeface="Bookman Old Style"/>
              </a:rPr>
              <a:t>Key studies and findings</a:t>
            </a:r>
          </a:p>
        </p:txBody>
      </p:sp>
      <p:graphicFrame>
        <p:nvGraphicFramePr>
          <p:cNvPr id="158" name="Table 157"/>
          <p:cNvGraphicFramePr>
            <a:graphicFrameLocks noGrp="1"/>
          </p:cNvGraphicFramePr>
          <p:nvPr/>
        </p:nvGraphicFramePr>
        <p:xfrm>
          <a:off x="365760" y="1463040"/>
          <a:ext cx="1143000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4663440"/>
                <a:gridCol w="4297680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Bookman Old Style"/>
                        </a:rPr>
                        <a:t>Study</a:t>
                      </a:r>
                    </a:p>
                  </a:txBody>
                  <a:tcPr marL="54864" marR="54864" marT="27432" marB="27432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Bookman Old Style"/>
                        </a:rPr>
                        <a:t>What they did</a:t>
                      </a:r>
                    </a:p>
                  </a:txBody>
                  <a:tcPr marL="54864" marR="54864" marT="27432" marB="27432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Bookman Old Style"/>
                        </a:rPr>
                        <a:t>Key finding</a:t>
                      </a:r>
                    </a:p>
                  </a:txBody>
                  <a:tcPr marL="54864" marR="54864" marT="27432" marB="27432">
                    <a:solidFill>
                      <a:srgbClr val="002060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02060"/>
                          </a:solidFill>
                          <a:latin typeface="Bookman Old Style"/>
                        </a:rPr>
                        <a:t>Hwang et al., 2017 [2]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2060"/>
                          </a:solidFill>
                          <a:latin typeface="Bookman Old Style"/>
                        </a:rPr>
                        <a:t>IoT performance-measurement model built on the ISA-95 and ISO 22400 standards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2060"/>
                          </a:solidFill>
                          <a:latin typeface="Bookman Old Style"/>
                        </a:rPr>
                        <a:t>IoT timestamp data can give OEE numbers in real time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02060"/>
                          </a:solidFill>
                          <a:latin typeface="Bookman Old Style"/>
                        </a:rPr>
                        <a:t>Ng Corrales et al., 2020 [3]</a:t>
                      </a:r>
                    </a:p>
                  </a:txBody>
                  <a:tcPr marL="54864" marR="54864" marT="27432" marB="27432">
                    <a:solidFill>
                      <a:srgbClr val="E8ED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2060"/>
                          </a:solidFill>
                          <a:latin typeface="Bookman Old Style"/>
                        </a:rPr>
                        <a:t>Systematic review of OEE: 862 articles screened down to 186</a:t>
                      </a:r>
                    </a:p>
                  </a:txBody>
                  <a:tcPr marL="54864" marR="54864" marT="27432" marB="27432">
                    <a:solidFill>
                      <a:srgbClr val="E8ED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2060"/>
                          </a:solidFill>
                          <a:latin typeface="Bookman Old Style"/>
                        </a:rPr>
                        <a:t>Many industries adapt OEE, because the basic formula alone is not enough</a:t>
                      </a:r>
                    </a:p>
                  </a:txBody>
                  <a:tcPr marL="54864" marR="54864" marT="27432" marB="27432">
                    <a:solidFill>
                      <a:srgbClr val="E8EDF6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02060"/>
                          </a:solidFill>
                          <a:latin typeface="Bookman Old Style"/>
                        </a:rPr>
                        <a:t>Wicaksono et al., 2024 [4]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2060"/>
                          </a:solidFill>
                          <a:latin typeface="Bookman Old Style"/>
                        </a:rPr>
                        <a:t>Replaced manual OEE logging with an ESP32 board over MQTT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2060"/>
                          </a:solidFill>
                          <a:latin typeface="Bookman Old Style"/>
                        </a:rPr>
                        <a:t>Works in real time, but reports up to 16% OEE error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02060"/>
                          </a:solidFill>
                          <a:latin typeface="Bookman Old Style"/>
                        </a:rPr>
                        <a:t>Spearman et al., 1990 [5]</a:t>
                      </a:r>
                    </a:p>
                  </a:txBody>
                  <a:tcPr marL="54864" marR="54864" marT="27432" marB="27432">
                    <a:solidFill>
                      <a:srgbClr val="E8ED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2060"/>
                          </a:solidFill>
                          <a:latin typeface="Bookman Old Style"/>
                        </a:rPr>
                        <a:t>Proposed CONWIP: a fixed cap on the total parts inside a line</a:t>
                      </a:r>
                    </a:p>
                  </a:txBody>
                  <a:tcPr marL="54864" marR="54864" marT="27432" marB="27432">
                    <a:solidFill>
                      <a:srgbClr val="E8ED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2060"/>
                          </a:solidFill>
                          <a:latin typeface="Bookman Old Style"/>
                        </a:rPr>
                        <a:t>A simple pull alternative to kanban that limits WIP</a:t>
                      </a:r>
                    </a:p>
                  </a:txBody>
                  <a:tcPr marL="54864" marR="54864" marT="27432" marB="27432">
                    <a:solidFill>
                      <a:srgbClr val="E8EDF6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02060"/>
                          </a:solidFill>
                          <a:latin typeface="Bookman Old Style"/>
                        </a:rPr>
                        <a:t>Thürer et al., 2023 [6]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2060"/>
                          </a:solidFill>
                          <a:latin typeface="Bookman Old Style"/>
                        </a:rPr>
                        <a:t>Tested kanban, CONWIP and a hybrid on a physical lab-scale line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2060"/>
                          </a:solidFill>
                          <a:latin typeface="Bookman Old Style"/>
                        </a:rPr>
                        <a:t>WIP limits cut the time a job spends in the line but can lower throughput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"/>
          <p:cNvSpPr txBox="1"/>
          <p:nvPr>
            <p:ph idx="1" type="body"/>
          </p:nvPr>
        </p:nvSpPr>
        <p:spPr>
          <a:xfrm>
            <a:off x="174813" y="1490132"/>
            <a:ext cx="11842377" cy="52221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IN" sz="1700" b="1"/>
              <a:t xml:space="preserve">Trends in literature: </a:t>
            </a:r>
            <a:r>
              <a:rPr lang="en-IN" sz="1700" b="0"/>
              <a:t>low-cost IoT boards now give real-time OEE [2], [4]; WIP limits like CONWIP are mostly tested in simulation or lab models [6], [9]; public line data such as the Bosch dataset is used mainly to predict failed parts [8].</a:t>
            </a: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IN" sz="1700" b="1"/>
              <a:t>Theoretical framework:</a:t>
            </a:r>
          </a:p>
          <a:p>
            <a:pPr indent="-228600" lvl="1" marL="5715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Char char="–"/>
            </a:pPr>
            <a:r>
              <a:rPr lang="en-IN" sz="1500" b="1"/>
              <a:t xml:space="preserve">Little's law: </a:t>
            </a:r>
            <a:r>
              <a:rPr lang="en-IN" sz="1500" b="0"/>
              <a:t>average WIP = throughput × average flow time [7]. Cut WIP at the same throughput and parts spend less time in the line.</a:t>
            </a:r>
          </a:p>
          <a:p>
            <a:pPr indent="-228600" lvl="1" marL="5715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Char char="–"/>
            </a:pPr>
            <a:r>
              <a:rPr lang="en-IN" sz="1500" b="1"/>
              <a:t xml:space="preserve">OEE = Availability × Performance × Quality </a:t>
            </a:r>
            <a:r>
              <a:rPr lang="en-IN" sz="1500" b="0"/>
              <a:t>[3], [10].</a:t>
            </a:r>
          </a:p>
          <a:p>
            <a:pPr indent="-228600" lvl="1" marL="5715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Char char="–"/>
            </a:pPr>
            <a:r>
              <a:rPr lang="en-IN" sz="1500" b="1"/>
              <a:t xml:space="preserve">CONWIP: </a:t>
            </a:r>
            <a:r>
              <a:rPr lang="en-IN" sz="1500" b="0"/>
              <a:t>release a new part only when a finished part leaves [5].</a:t>
            </a: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IN" sz="1700" b="1"/>
              <a:t xml:space="preserve">Relevance to our project: </a:t>
            </a:r>
            <a:r>
              <a:rPr lang="en-IN" sz="1700" b="0"/>
              <a:t>monitoring papers report numbers but do not control the flow, and WIP-limit papers control the flow but are rarely tied to a live, measured line [6], [9]. Low-cost builds rarely check their accuracy against a manual count [4]. OptiProductio does all three on one small line.</a:t>
            </a:r>
          </a:p>
        </p:txBody>
      </p:sp>
      <p:sp>
        <p:nvSpPr>
          <p:cNvPr id="155" name="Google Shape;155;p6"/>
          <p:cNvSpPr txBox="1"/>
          <p:nvPr>
            <p:ph idx="12" type="sldNum"/>
          </p:nvPr>
        </p:nvSpPr>
        <p:spPr>
          <a:xfrm>
            <a:off x="9273988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56" name="Google Shape;156;p6"/>
          <p:cNvSpPr txBox="1"/>
          <p:nvPr/>
        </p:nvSpPr>
        <p:spPr>
          <a:xfrm>
            <a:off x="1710268" y="89747"/>
            <a:ext cx="9939866" cy="943186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dash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IN" sz="4000" u="none" cap="none" strike="noStrike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Literature Review (contd.)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"/>
          <p:cNvSpPr txBox="1"/>
          <p:nvPr>
            <p:ph idx="1" type="body"/>
          </p:nvPr>
        </p:nvSpPr>
        <p:spPr>
          <a:xfrm>
            <a:off x="174813" y="1076325"/>
            <a:ext cx="11842377" cy="56360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IN" sz="1800" b="1"/>
              <a:t xml:space="preserve">Clear statement of the problem: </a:t>
            </a:r>
            <a:r>
              <a:rPr lang="en-IN" sz="1800" b="0"/>
              <a:t>small production units cannot see count, cycle time, inventory and WIP while the line is running, so they find bottlenecks and pile-ups too late to act.</a:t>
            </a:r>
          </a:p>
          <a:p>
            <a:pPr indent="-228600" lvl="0" marL="228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IN" sz="1800" b="1"/>
              <a:t xml:space="preserve">Context of the problem: </a:t>
            </a:r>
            <a:r>
              <a:rPr lang="en-IN" sz="1800" b="0"/>
              <a:t>MSMEs gave 30.1% of India's GDP (2022-23) and 45.73% of its exports (2023-24) [1]. Manual OEE recording is slow because operators write data at the machine and supervisors process it later [4]. Ordinary performance systems struggle to capture what is actually happening on the floor in real time [2].</a:t>
            </a:r>
          </a:p>
          <a:p>
            <a:pPr indent="-228600" lvl="0" marL="228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IN" sz="1800" b="1"/>
              <a:t xml:space="preserve">Significance of addressing it: </a:t>
            </a:r>
            <a:r>
              <a:rPr lang="en-IN" sz="1800" b="0"/>
              <a:t>if work is released without a limit, WIP between stations can keep growing [11], parts wait longer, and the slowest station stays hidden.</a:t>
            </a:r>
          </a:p>
          <a:p>
            <a:pPr indent="-228600" lvl="0" marL="228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IN" sz="1800" b="1"/>
              <a:t xml:space="preserve">Gap and novelty: </a:t>
            </a:r>
            <a:r>
              <a:rPr lang="en-IN" sz="1800" b="0"/>
              <a:t>low-cost monitoring and WIP control are studied separately [4], [9]. OptiProductio puts both on one prototype costing under ₹2,000 (our estimate), and checks its own counts against a hand tally and Little's law [7].</a:t>
            </a:r>
          </a:p>
        </p:txBody>
      </p:sp>
      <p:sp>
        <p:nvSpPr>
          <p:cNvPr id="162" name="Google Shape;162;p7"/>
          <p:cNvSpPr txBox="1"/>
          <p:nvPr>
            <p:ph idx="12" type="sldNum"/>
          </p:nvPr>
        </p:nvSpPr>
        <p:spPr>
          <a:xfrm>
            <a:off x="9273988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63" name="Google Shape;163;p7"/>
          <p:cNvSpPr txBox="1"/>
          <p:nvPr/>
        </p:nvSpPr>
        <p:spPr>
          <a:xfrm>
            <a:off x="1503705" y="0"/>
            <a:ext cx="10227733" cy="1076325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dash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IN" sz="3600" u="none" cap="none" strike="noStrike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Problem Definition</a:t>
            </a:r>
            <a:endParaRPr b="1" i="0" sz="3600" u="none" cap="none" strike="noStrike">
              <a:solidFill>
                <a:srgbClr val="C00000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8"/>
          <p:cNvSpPr txBox="1"/>
          <p:nvPr>
            <p:ph idx="1" type="body"/>
          </p:nvPr>
        </p:nvSpPr>
        <p:spPr>
          <a:xfrm>
            <a:off x="342900" y="1005840"/>
            <a:ext cx="11496675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Arial"/>
              <a:buChar char="•"/>
            </a:pPr>
            <a:r>
              <a:rPr lang="en-IN" sz="1700" b="1"/>
              <a:t xml:space="preserve">Main objective: </a:t>
            </a:r>
            <a:r>
              <a:rPr lang="en-IN" sz="1700" b="0"/>
              <a:t>build a low-cost hardware and software prototype that measures production count, cycle time, inventory and WIP on a 3-station model line in real time, and use it to find the bottleneck and test a WIP limit.</a:t>
            </a:r>
          </a:p>
        </p:txBody>
      </p:sp>
      <p:sp>
        <p:nvSpPr>
          <p:cNvPr id="169" name="Google Shape;169;p8"/>
          <p:cNvSpPr txBox="1"/>
          <p:nvPr>
            <p:ph idx="12" type="sldNum"/>
          </p:nvPr>
        </p:nvSpPr>
        <p:spPr>
          <a:xfrm>
            <a:off x="9273988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70" name="Google Shape;170;p8"/>
          <p:cNvSpPr txBox="1"/>
          <p:nvPr/>
        </p:nvSpPr>
        <p:spPr>
          <a:xfrm>
            <a:off x="2191229" y="0"/>
            <a:ext cx="8146571" cy="1032933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dash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IN" sz="4000" u="none" cap="none" strike="noStrike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Objectives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71" name="Table 170"/>
          <p:cNvGraphicFramePr>
            <a:graphicFrameLocks noGrp="1"/>
          </p:cNvGraphicFramePr>
          <p:nvPr/>
        </p:nvGraphicFramePr>
        <p:xfrm>
          <a:off x="365760" y="2103120"/>
          <a:ext cx="11430000" cy="2679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4206240"/>
                <a:gridCol w="4937760"/>
                <a:gridCol w="1554480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Bookman Old Style"/>
                        </a:rPr>
                        <a:t>PO</a:t>
                      </a:r>
                    </a:p>
                  </a:txBody>
                  <a:tcPr marL="54864" marR="54864" marT="27432" marB="27432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Bookman Old Style"/>
                        </a:rPr>
                        <a:t>Specific objective</a:t>
                      </a:r>
                    </a:p>
                  </a:txBody>
                  <a:tcPr marL="54864" marR="54864" marT="27432" marB="27432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Bookman Old Style"/>
                        </a:rPr>
                        <a:t>Measurable target</a:t>
                      </a:r>
                    </a:p>
                  </a:txBody>
                  <a:tcPr marL="54864" marR="54864" marT="27432" marB="27432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Bookman Old Style"/>
                        </a:rPr>
                        <a:t>By</a:t>
                      </a:r>
                    </a:p>
                  </a:txBody>
                  <a:tcPr marL="54864" marR="54864" marT="27432" marB="27432">
                    <a:solidFill>
                      <a:srgbClr val="002060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02060"/>
                          </a:solidFill>
                          <a:latin typeface="Bookman Old Style"/>
                        </a:rPr>
                        <a:t>PO1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2060"/>
                          </a:solidFill>
                          <a:latin typeface="Bookman Old Style"/>
                        </a:rPr>
                        <a:t>Count parts at all 3 stations with IR sensors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2060"/>
                          </a:solidFill>
                          <a:latin typeface="Bookman Old Style"/>
                        </a:rPr>
                        <a:t>Count error ≤ 2% against a hand tally, over three 10-minute runs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2060"/>
                          </a:solidFill>
                          <a:latin typeface="Bookman Old Style"/>
                        </a:rPr>
                        <a:t>Phase II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02060"/>
                          </a:solidFill>
                          <a:latin typeface="Bookman Old Style"/>
                        </a:rPr>
                        <a:t>PO2</a:t>
                      </a:r>
                    </a:p>
                  </a:txBody>
                  <a:tcPr marL="54864" marR="54864" marT="27432" marB="27432">
                    <a:solidFill>
                      <a:srgbClr val="E8ED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2060"/>
                          </a:solidFill>
                          <a:latin typeface="Bookman Old Style"/>
                        </a:rPr>
                        <a:t>Live dashboard: count, cycle time per station, WIP, bin level, downtime, OEE proxy</a:t>
                      </a:r>
                    </a:p>
                  </a:txBody>
                  <a:tcPr marL="54864" marR="54864" marT="27432" marB="27432">
                    <a:solidFill>
                      <a:srgbClr val="E8ED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2060"/>
                          </a:solidFill>
                          <a:latin typeface="Bookman Old Style"/>
                        </a:rPr>
                        <a:t>Refreshes every 2 s or faster; all 6 numbers on one screen</a:t>
                      </a:r>
                    </a:p>
                  </a:txBody>
                  <a:tcPr marL="54864" marR="54864" marT="27432" marB="27432">
                    <a:solidFill>
                      <a:srgbClr val="E8ED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2060"/>
                          </a:solidFill>
                          <a:latin typeface="Bookman Old Style"/>
                        </a:rPr>
                        <a:t>Phase II</a:t>
                      </a:r>
                    </a:p>
                  </a:txBody>
                  <a:tcPr marL="54864" marR="54864" marT="27432" marB="27432">
                    <a:solidFill>
                      <a:srgbClr val="E8EDF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02060"/>
                          </a:solidFill>
                          <a:latin typeface="Bookman Old Style"/>
                        </a:rPr>
                        <a:t>PO3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2060"/>
                          </a:solidFill>
                          <a:latin typeface="Bookman Old Style"/>
                        </a:rPr>
                        <a:t>Find the bottleneck and rebalance the line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2060"/>
                          </a:solidFill>
                          <a:latin typeface="Bookman Old Style"/>
                        </a:rPr>
                        <a:t>Report throughput and flow time before and after, 3 runs each; Little's law gap ≤ 10%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2060"/>
                          </a:solidFill>
                          <a:latin typeface="Bookman Old Style"/>
                        </a:rPr>
                        <a:t>Phase III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02060"/>
                          </a:solidFill>
                          <a:latin typeface="Bookman Old Style"/>
                        </a:rPr>
                        <a:t>PO4</a:t>
                      </a:r>
                    </a:p>
                  </a:txBody>
                  <a:tcPr marL="54864" marR="54864" marT="27432" marB="27432">
                    <a:solidFill>
                      <a:srgbClr val="E8ED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2060"/>
                          </a:solidFill>
                          <a:latin typeface="Bookman Old Style"/>
                        </a:rPr>
                        <a:t>WIP-limit alert (LED, buzzer, dashboard)</a:t>
                      </a:r>
                    </a:p>
                  </a:txBody>
                  <a:tcPr marL="54864" marR="54864" marT="27432" marB="27432">
                    <a:solidFill>
                      <a:srgbClr val="E8ED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2060"/>
                          </a:solidFill>
                          <a:latin typeface="Bookman Old Style"/>
                        </a:rPr>
                        <a:t>Alert fires at the cap every time; trade-off reported for caps 2, 4, 6</a:t>
                      </a:r>
                    </a:p>
                  </a:txBody>
                  <a:tcPr marL="54864" marR="54864" marT="27432" marB="27432">
                    <a:solidFill>
                      <a:srgbClr val="E8ED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2060"/>
                          </a:solidFill>
                          <a:latin typeface="Bookman Old Style"/>
                        </a:rPr>
                        <a:t>Phase III</a:t>
                      </a:r>
                    </a:p>
                  </a:txBody>
                  <a:tcPr marL="54864" marR="54864" marT="27432" marB="27432">
                    <a:solidFill>
                      <a:srgbClr val="E8EDF6"/>
                    </a:solidFill>
                  </a:tcPr>
                </a:tc>
              </a:tr>
            </a:tbl>
          </a:graphicData>
        </a:graphic>
      </p:graphicFrame>
      <p:sp>
        <p:nvSpPr>
          <p:cNvPr id="172" name="TextBox 171"/>
          <p:cNvSpPr txBox="1"/>
          <p:nvPr/>
        </p:nvSpPr>
        <p:spPr>
          <a:xfrm>
            <a:off x="365760" y="5120640"/>
            <a:ext cx="1143000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002060"/>
                </a:solidFill>
                <a:latin typeface="Bookman Old Style"/>
              </a:rPr>
              <a:t>Why achievable: </a:t>
            </a:r>
            <a:r>
              <a:rPr sz="1500" b="0" i="0">
                <a:solidFill>
                  <a:srgbClr val="002060"/>
                </a:solidFill>
                <a:latin typeface="Bookman Old Style"/>
              </a:rPr>
              <a:t>parts are standard IDEA Lab kit, the code is already written and tested on sample data, and each PO is checked by a simple count or timer.  </a:t>
            </a:r>
            <a:r>
              <a:rPr sz="1500" b="1" i="0">
                <a:solidFill>
                  <a:srgbClr val="002060"/>
                </a:solidFill>
                <a:latin typeface="Bookman Old Style"/>
              </a:rPr>
              <a:t>Expected contribution: </a:t>
            </a:r>
            <a:r>
              <a:rPr sz="1500" b="0" i="0">
                <a:solidFill>
                  <a:srgbClr val="002060"/>
                </a:solidFill>
                <a:latin typeface="Bookman Old Style"/>
              </a:rPr>
              <a:t>a cheap, open template for monitoring and WIP control that small units and student labs can copy.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9"/>
          <p:cNvSpPr txBox="1"/>
          <p:nvPr>
            <p:ph idx="1" type="body"/>
          </p:nvPr>
        </p:nvSpPr>
        <p:spPr>
          <a:xfrm>
            <a:off x="174811" y="1069220"/>
            <a:ext cx="11842377" cy="52779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Arial"/>
              <a:buChar char="•"/>
            </a:pPr>
            <a:r>
              <a:rPr lang="en-IN" sz="1700" b="1"/>
              <a:t xml:space="preserve">Design: </a:t>
            </a:r>
            <a:r>
              <a:rPr lang="en-IN" sz="1700" b="0"/>
              <a:t>quantitative and experimental. Build the line, measure it, change one thing at a time (rebalance, then WIP limit) and compare the numbers.</a:t>
            </a: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Arial"/>
              <a:buChar char="•"/>
            </a:pPr>
            <a:r>
              <a:rPr lang="en-IN" sz="1700" b="1"/>
              <a:t xml:space="preserve">Data collection: </a:t>
            </a:r>
            <a:r>
              <a:rPr lang="en-IN" sz="1700" b="0"/>
              <a:t>IR sensors time every part leaving each station; buttons log breakdown, no-material and reject; an ultrasonic sensor reads the raw material bin. The Arduino stamps each event in milliseconds and sends it over USB to a Python logger (CSV). Secondary data: the public Bosch production line dataset [8], [12].</a:t>
            </a: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Arial"/>
              <a:buChar char="•"/>
            </a:pPr>
            <a:r>
              <a:rPr lang="en-IN" sz="1700" b="1"/>
              <a:t xml:space="preserve">Data analysis: </a:t>
            </a:r>
            <a:r>
              <a:rPr lang="en-IN" sz="1700" b="0"/>
              <a:t>throughput, cycle time per station, WIP and flow time from the event log; Little's law as a cross-check [7]; OEE proxy = A × P × Q [3]; mean and spread across 3 repeat runs.</a:t>
            </a: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Arial"/>
              <a:buChar char="•"/>
            </a:pPr>
            <a:r>
              <a:rPr lang="en-IN" sz="1700" b="1"/>
              <a:t xml:space="preserve">Tools: </a:t>
            </a:r>
            <a:r>
              <a:rPr lang="en-IN" sz="1700" b="0"/>
              <a:t>Arduino IDE (C++), Python (pyserial, pandas, Streamlit), Excel for result tables.</a:t>
            </a: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Arial"/>
              <a:buChar char="•"/>
            </a:pPr>
            <a:r>
              <a:rPr lang="en-IN" sz="1700" b="1"/>
              <a:t xml:space="preserve">Risks and fallbacks: </a:t>
            </a:r>
            <a:r>
              <a:rPr lang="en-IN" sz="1700" b="0"/>
              <a:t>miscounts (cardboard gates, debounce, hand tally check); hardware failure on demo day (replay a saved run); Bosch time units are not published (use only for relative comparison).</a:t>
            </a:r>
          </a:p>
        </p:txBody>
      </p:sp>
      <p:sp>
        <p:nvSpPr>
          <p:cNvPr id="176" name="Google Shape;176;p9"/>
          <p:cNvSpPr txBox="1"/>
          <p:nvPr>
            <p:ph idx="12" type="sldNum"/>
          </p:nvPr>
        </p:nvSpPr>
        <p:spPr>
          <a:xfrm>
            <a:off x="9273988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77" name="Google Shape;177;p9"/>
          <p:cNvSpPr txBox="1"/>
          <p:nvPr/>
        </p:nvSpPr>
        <p:spPr>
          <a:xfrm>
            <a:off x="2284362" y="0"/>
            <a:ext cx="8146571" cy="8394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dash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IN" sz="4000" u="none" cap="none" strike="noStrike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Methodology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0"/>
          <p:cNvSpPr txBox="1"/>
          <p:nvPr>
            <p:ph idx="12" type="sldNum"/>
          </p:nvPr>
        </p:nvSpPr>
        <p:spPr>
          <a:xfrm>
            <a:off x="9273988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84" name="Google Shape;184;p10"/>
          <p:cNvSpPr txBox="1"/>
          <p:nvPr/>
        </p:nvSpPr>
        <p:spPr>
          <a:xfrm>
            <a:off x="2284362" y="0"/>
            <a:ext cx="8146571" cy="8394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dash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IN" sz="4000" u="none" cap="none" strike="noStrike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System Pipeline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Rounded Rectangle 184"/>
          <p:cNvSpPr/>
          <p:nvPr/>
        </p:nvSpPr>
        <p:spPr>
          <a:xfrm>
            <a:off x="411480" y="1417320"/>
            <a:ext cx="2514600" cy="914400"/>
          </a:xfrm>
          <a:prstGeom prst="roundRect">
            <a:avLst/>
          </a:prstGeom>
          <a:solidFill>
            <a:srgbClr val="E8EDF6"/>
          </a:solidFill>
          <a:ln w="1587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002060"/>
                </a:solidFill>
                <a:latin typeface="Bookman Old Style"/>
              </a:rPr>
              <a:t>Raw material bin</a:t>
            </a:r>
          </a:p>
          <a:p>
            <a:pPr algn="ctr"/>
            <a:r>
              <a:rPr sz="1300" b="0">
                <a:solidFill>
                  <a:srgbClr val="002060"/>
                </a:solidFill>
                <a:latin typeface="Bookman Old Style"/>
              </a:rPr>
              <a:t>ultrasonic sensor</a:t>
            </a:r>
          </a:p>
        </p:txBody>
      </p:sp>
      <p:cxnSp>
        <p:nvCxnSpPr>
          <p:cNvPr id="186" name="Connector 185"/>
          <p:cNvCxnSpPr/>
          <p:nvPr/>
        </p:nvCxnSpPr>
        <p:spPr>
          <a:xfrm>
            <a:off x="2953512" y="1874519"/>
            <a:ext cx="356616" cy="0"/>
          </a:xfrm>
          <a:prstGeom prst="line">
            <a:avLst/>
          </a:prstGeom>
          <a:ln w="25400">
            <a:solidFill>
              <a:srgbClr val="002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7" name="Rounded Rectangle 186"/>
          <p:cNvSpPr/>
          <p:nvPr/>
        </p:nvSpPr>
        <p:spPr>
          <a:xfrm>
            <a:off x="3337560" y="1417320"/>
            <a:ext cx="2514600" cy="914400"/>
          </a:xfrm>
          <a:prstGeom prst="roundRect">
            <a:avLst/>
          </a:prstGeom>
          <a:solidFill>
            <a:srgbClr val="E8EDF6"/>
          </a:solidFill>
          <a:ln w="1587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002060"/>
                </a:solidFill>
                <a:latin typeface="Bookman Old Style"/>
              </a:rPr>
              <a:t>Station 1: Cut</a:t>
            </a:r>
          </a:p>
          <a:p>
            <a:pPr algn="ctr"/>
            <a:r>
              <a:rPr sz="1300" b="0">
                <a:solidFill>
                  <a:srgbClr val="002060"/>
                </a:solidFill>
                <a:latin typeface="Bookman Old Style"/>
              </a:rPr>
              <a:t>IR sensor D2</a:t>
            </a:r>
          </a:p>
        </p:txBody>
      </p:sp>
      <p:cxnSp>
        <p:nvCxnSpPr>
          <p:cNvPr id="188" name="Connector 187"/>
          <p:cNvCxnSpPr/>
          <p:nvPr/>
        </p:nvCxnSpPr>
        <p:spPr>
          <a:xfrm>
            <a:off x="5879592" y="1874519"/>
            <a:ext cx="356616" cy="0"/>
          </a:xfrm>
          <a:prstGeom prst="line">
            <a:avLst/>
          </a:prstGeom>
          <a:ln w="25400">
            <a:solidFill>
              <a:srgbClr val="002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9" name="Rounded Rectangle 188"/>
          <p:cNvSpPr/>
          <p:nvPr/>
        </p:nvSpPr>
        <p:spPr>
          <a:xfrm>
            <a:off x="6263640" y="1417320"/>
            <a:ext cx="2514600" cy="914400"/>
          </a:xfrm>
          <a:prstGeom prst="roundRect">
            <a:avLst/>
          </a:prstGeom>
          <a:solidFill>
            <a:srgbClr val="E8EDF6"/>
          </a:solidFill>
          <a:ln w="1587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002060"/>
                </a:solidFill>
                <a:latin typeface="Bookman Old Style"/>
              </a:rPr>
              <a:t>Station 2: Drill</a:t>
            </a:r>
          </a:p>
          <a:p>
            <a:pPr algn="ctr"/>
            <a:r>
              <a:rPr sz="1300" b="0">
                <a:solidFill>
                  <a:srgbClr val="002060"/>
                </a:solidFill>
                <a:latin typeface="Bookman Old Style"/>
              </a:rPr>
              <a:t>IR sensor D3 (slow on purpose)</a:t>
            </a:r>
          </a:p>
        </p:txBody>
      </p:sp>
      <p:cxnSp>
        <p:nvCxnSpPr>
          <p:cNvPr id="190" name="Connector 189"/>
          <p:cNvCxnSpPr/>
          <p:nvPr/>
        </p:nvCxnSpPr>
        <p:spPr>
          <a:xfrm>
            <a:off x="8805672" y="1874519"/>
            <a:ext cx="356616" cy="0"/>
          </a:xfrm>
          <a:prstGeom prst="line">
            <a:avLst/>
          </a:prstGeom>
          <a:ln w="25400">
            <a:solidFill>
              <a:srgbClr val="002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1" name="Rounded Rectangle 190"/>
          <p:cNvSpPr/>
          <p:nvPr/>
        </p:nvSpPr>
        <p:spPr>
          <a:xfrm>
            <a:off x="9189720" y="1417320"/>
            <a:ext cx="2514600" cy="914400"/>
          </a:xfrm>
          <a:prstGeom prst="roundRect">
            <a:avLst/>
          </a:prstGeom>
          <a:solidFill>
            <a:srgbClr val="E8EDF6"/>
          </a:solidFill>
          <a:ln w="1587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002060"/>
                </a:solidFill>
                <a:latin typeface="Bookman Old Style"/>
              </a:rPr>
              <a:t>Station 3: Inspect</a:t>
            </a:r>
          </a:p>
          <a:p>
            <a:pPr algn="ctr"/>
            <a:r>
              <a:rPr sz="1300" b="0">
                <a:solidFill>
                  <a:srgbClr val="002060"/>
                </a:solidFill>
                <a:latin typeface="Bookman Old Style"/>
              </a:rPr>
              <a:t>IR D4 + Reject button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411480" y="1024128"/>
            <a:ext cx="54864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C00000"/>
                </a:solidFill>
                <a:latin typeface="Bookman Old Style"/>
              </a:rPr>
              <a:t>Physical line (parts moved by hand)</a:t>
            </a:r>
          </a:p>
        </p:txBody>
      </p:sp>
      <p:sp>
        <p:nvSpPr>
          <p:cNvPr id="193" name="Rounded Rectangle 192"/>
          <p:cNvSpPr/>
          <p:nvPr/>
        </p:nvSpPr>
        <p:spPr>
          <a:xfrm>
            <a:off x="411480" y="2743200"/>
            <a:ext cx="3291840" cy="914400"/>
          </a:xfrm>
          <a:prstGeom prst="roundRect">
            <a:avLst/>
          </a:prstGeom>
          <a:solidFill>
            <a:srgbClr val="E8EDF6"/>
          </a:solidFill>
          <a:ln w="1587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002060"/>
                </a:solidFill>
                <a:latin typeface="Bookman Old Style"/>
              </a:rPr>
              <a:t>Control panel</a:t>
            </a:r>
          </a:p>
          <a:p>
            <a:pPr algn="ctr"/>
            <a:r>
              <a:rPr sz="1300" b="0">
                <a:solidFill>
                  <a:srgbClr val="002060"/>
                </a:solidFill>
                <a:latin typeface="Bookman Old Style"/>
              </a:rPr>
              <a:t>Breakdown, No-material buttons</a:t>
            </a:r>
          </a:p>
        </p:txBody>
      </p:sp>
      <p:sp>
        <p:nvSpPr>
          <p:cNvPr id="194" name="Rounded Rectangle 193"/>
          <p:cNvSpPr/>
          <p:nvPr/>
        </p:nvSpPr>
        <p:spPr>
          <a:xfrm>
            <a:off x="4434840" y="2743200"/>
            <a:ext cx="3291840" cy="914400"/>
          </a:xfrm>
          <a:prstGeom prst="round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Bookman Old Style"/>
              </a:rPr>
              <a:t>Arduino UNO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Bookman Old Style"/>
              </a:rPr>
              <a:t>timestamps every event</a:t>
            </a:r>
          </a:p>
        </p:txBody>
      </p:sp>
      <p:sp>
        <p:nvSpPr>
          <p:cNvPr id="195" name="Rounded Rectangle 194"/>
          <p:cNvSpPr/>
          <p:nvPr/>
        </p:nvSpPr>
        <p:spPr>
          <a:xfrm>
            <a:off x="8458200" y="2743200"/>
            <a:ext cx="3291840" cy="914400"/>
          </a:xfrm>
          <a:prstGeom prst="roundRect">
            <a:avLst/>
          </a:prstGeom>
          <a:solidFill>
            <a:srgbClr val="E8EDF6"/>
          </a:solidFill>
          <a:ln w="1587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002060"/>
                </a:solidFill>
                <a:latin typeface="Bookman Old Style"/>
              </a:rPr>
              <a:t>Andon on the line</a:t>
            </a:r>
          </a:p>
          <a:p>
            <a:pPr algn="ctr"/>
            <a:r>
              <a:rPr sz="1300" b="0">
                <a:solidFill>
                  <a:srgbClr val="002060"/>
                </a:solidFill>
                <a:latin typeface="Bookman Old Style"/>
              </a:rPr>
              <a:t>LCD, red/green LED, buzzer</a:t>
            </a:r>
          </a:p>
        </p:txBody>
      </p:sp>
      <p:cxnSp>
        <p:nvCxnSpPr>
          <p:cNvPr id="196" name="Connector 195"/>
          <p:cNvCxnSpPr/>
          <p:nvPr/>
        </p:nvCxnSpPr>
        <p:spPr>
          <a:xfrm>
            <a:off x="6080760" y="2331720"/>
            <a:ext cx="0" cy="393192"/>
          </a:xfrm>
          <a:prstGeom prst="line">
            <a:avLst/>
          </a:prstGeom>
          <a:ln w="25400">
            <a:solidFill>
              <a:srgbClr val="002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>
            <a:off x="3721608" y="3200400"/>
            <a:ext cx="694944" cy="0"/>
          </a:xfrm>
          <a:prstGeom prst="line">
            <a:avLst/>
          </a:prstGeom>
          <a:ln w="25400">
            <a:solidFill>
              <a:srgbClr val="002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>
            <a:off x="7744968" y="3200400"/>
            <a:ext cx="694944" cy="0"/>
          </a:xfrm>
          <a:prstGeom prst="line">
            <a:avLst/>
          </a:prstGeom>
          <a:ln w="25400">
            <a:solidFill>
              <a:srgbClr val="002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9" name="Rounded Rectangle 198"/>
          <p:cNvSpPr/>
          <p:nvPr/>
        </p:nvSpPr>
        <p:spPr>
          <a:xfrm>
            <a:off x="4434840" y="4114800"/>
            <a:ext cx="3291840" cy="822960"/>
          </a:xfrm>
          <a:prstGeom prst="round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Bookman Old Style"/>
              </a:rPr>
              <a:t>Python logger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Bookman Old Style"/>
              </a:rPr>
              <a:t>USB serial to CSV event log</a:t>
            </a:r>
          </a:p>
        </p:txBody>
      </p:sp>
      <p:cxnSp>
        <p:nvCxnSpPr>
          <p:cNvPr id="200" name="Connector 199"/>
          <p:cNvCxnSpPr/>
          <p:nvPr/>
        </p:nvCxnSpPr>
        <p:spPr>
          <a:xfrm>
            <a:off x="6080760" y="3675887"/>
            <a:ext cx="0" cy="420625"/>
          </a:xfrm>
          <a:prstGeom prst="line">
            <a:avLst/>
          </a:prstGeom>
          <a:ln w="25400">
            <a:solidFill>
              <a:srgbClr val="002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1" name="Rounded Rectangle 200"/>
          <p:cNvSpPr/>
          <p:nvPr/>
        </p:nvSpPr>
        <p:spPr>
          <a:xfrm>
            <a:off x="411480" y="4114800"/>
            <a:ext cx="3291840" cy="822960"/>
          </a:xfrm>
          <a:prstGeom prst="roundRect">
            <a:avLst/>
          </a:prstGeom>
          <a:solidFill>
            <a:srgbClr val="E8EDF6"/>
          </a:solidFill>
          <a:ln w="1587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002060"/>
                </a:solidFill>
                <a:latin typeface="Bookman Old Style"/>
              </a:rPr>
              <a:t>Bosch public dataset</a:t>
            </a:r>
          </a:p>
          <a:p>
            <a:pPr algn="ctr"/>
            <a:r>
              <a:rPr sz="1300" b="0">
                <a:solidFill>
                  <a:srgbClr val="002060"/>
                </a:solidFill>
                <a:latin typeface="Bookman Old Style"/>
              </a:rPr>
              <a:t>converted to the same events</a:t>
            </a:r>
          </a:p>
        </p:txBody>
      </p:sp>
      <p:cxnSp>
        <p:nvCxnSpPr>
          <p:cNvPr id="202" name="Connector 201"/>
          <p:cNvCxnSpPr/>
          <p:nvPr/>
        </p:nvCxnSpPr>
        <p:spPr>
          <a:xfrm>
            <a:off x="3721608" y="4526280"/>
            <a:ext cx="694944" cy="0"/>
          </a:xfrm>
          <a:prstGeom prst="line">
            <a:avLst/>
          </a:prstGeom>
          <a:ln w="25400">
            <a:solidFill>
              <a:srgbClr val="002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3" name="Rounded Rectangle 202"/>
          <p:cNvSpPr/>
          <p:nvPr/>
        </p:nvSpPr>
        <p:spPr>
          <a:xfrm>
            <a:off x="4434840" y="5257800"/>
            <a:ext cx="3291840" cy="822960"/>
          </a:xfrm>
          <a:prstGeom prst="round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Bookman Old Style"/>
              </a:rPr>
              <a:t>Metrics engine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Bookman Old Style"/>
              </a:rPr>
              <a:t>count, cycle time, WIP, OEE</a:t>
            </a:r>
          </a:p>
        </p:txBody>
      </p:sp>
      <p:cxnSp>
        <p:nvCxnSpPr>
          <p:cNvPr id="204" name="Connector 203"/>
          <p:cNvCxnSpPr/>
          <p:nvPr/>
        </p:nvCxnSpPr>
        <p:spPr>
          <a:xfrm>
            <a:off x="6080760" y="4956048"/>
            <a:ext cx="0" cy="283464"/>
          </a:xfrm>
          <a:prstGeom prst="line">
            <a:avLst/>
          </a:prstGeom>
          <a:ln w="25400">
            <a:solidFill>
              <a:srgbClr val="002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5" name="Rounded Rectangle 204"/>
          <p:cNvSpPr/>
          <p:nvPr/>
        </p:nvSpPr>
        <p:spPr>
          <a:xfrm>
            <a:off x="8458200" y="5257800"/>
            <a:ext cx="3291840" cy="82296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Bookman Old Style"/>
              </a:rPr>
              <a:t>Streamlit dashboard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Bookman Old Style"/>
              </a:rPr>
              <a:t>live KPIs and WIP alert</a:t>
            </a:r>
          </a:p>
        </p:txBody>
      </p:sp>
      <p:cxnSp>
        <p:nvCxnSpPr>
          <p:cNvPr id="206" name="Connector 205"/>
          <p:cNvCxnSpPr/>
          <p:nvPr/>
        </p:nvCxnSpPr>
        <p:spPr>
          <a:xfrm>
            <a:off x="7744968" y="5669280"/>
            <a:ext cx="694944" cy="0"/>
          </a:xfrm>
          <a:prstGeom prst="line">
            <a:avLst/>
          </a:prstGeom>
          <a:ln w="25400">
            <a:solidFill>
              <a:srgbClr val="002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 flipV="1">
            <a:off x="10104120" y="3675887"/>
            <a:ext cx="0" cy="1563625"/>
          </a:xfrm>
          <a:prstGeom prst="line">
            <a:avLst/>
          </a:prstGeom>
          <a:ln w="25400">
            <a:solidFill>
              <a:srgbClr val="C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8" name="TextBox 207"/>
          <p:cNvSpPr txBox="1"/>
          <p:nvPr/>
        </p:nvSpPr>
        <p:spPr>
          <a:xfrm>
            <a:off x="10195560" y="4206240"/>
            <a:ext cx="173736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1">
                <a:solidFill>
                  <a:srgbClr val="C00000"/>
                </a:solidFill>
                <a:latin typeface="Bookman Old Style"/>
              </a:rPr>
              <a:t>WIP cap sent back to Arduino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9"/>
          <p:cNvSpPr txBox="1"/>
          <p:nvPr>
            <p:ph idx="12" type="sldNum"/>
          </p:nvPr>
        </p:nvSpPr>
        <p:spPr>
          <a:xfrm>
            <a:off x="9273988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77" name="Google Shape;177;p9"/>
          <p:cNvSpPr txBox="1"/>
          <p:nvPr/>
        </p:nvSpPr>
        <p:spPr>
          <a:xfrm>
            <a:off x="2284362" y="0"/>
            <a:ext cx="8146571" cy="8394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dash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IN" sz="4000" u="none" cap="none" strike="noStrike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Measurement Parameters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TextBox 177"/>
          <p:cNvSpPr txBox="1"/>
          <p:nvPr/>
        </p:nvSpPr>
        <p:spPr>
          <a:xfrm>
            <a:off x="365760" y="960120"/>
            <a:ext cx="114300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 i="1">
                <a:solidFill>
                  <a:srgbClr val="002060"/>
                </a:solidFill>
                <a:latin typeface="Bookman Old Style"/>
              </a:rPr>
              <a:t>No machine-learning model is trained in this project. These are the measurement settings we will report.</a:t>
            </a:r>
          </a:p>
        </p:txBody>
      </p:sp>
      <p:graphicFrame>
        <p:nvGraphicFramePr>
          <p:cNvPr id="179" name="Table 178"/>
          <p:cNvGraphicFramePr>
            <a:graphicFrameLocks noGrp="1"/>
          </p:cNvGraphicFramePr>
          <p:nvPr/>
        </p:nvGraphicFramePr>
        <p:xfrm>
          <a:off x="365760" y="1371600"/>
          <a:ext cx="1143000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8503920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Bookman Old Style"/>
                        </a:rPr>
                        <a:t>Item</a:t>
                      </a:r>
                    </a:p>
                  </a:txBody>
                  <a:tcPr marL="54864" marR="54864" marT="27432" marB="27432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Bookman Old Style"/>
                        </a:rPr>
                        <a:t>Value</a:t>
                      </a:r>
                    </a:p>
                  </a:txBody>
                  <a:tcPr marL="54864" marR="54864" marT="27432" marB="27432">
                    <a:solidFill>
                      <a:srgbClr val="00206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02060"/>
                          </a:solidFill>
                          <a:latin typeface="Bookman Old Style"/>
                        </a:rPr>
                        <a:t>Data sources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2060"/>
                          </a:solidFill>
                          <a:latin typeface="Bookman Old Style"/>
                        </a:rPr>
                        <a:t>Live line event log (CSV) and a Bosch sample: first 50,000 rows, line L3, 3 busiest stations [12]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02060"/>
                          </a:solidFill>
                          <a:latin typeface="Bookman Old Style"/>
                        </a:rPr>
                        <a:t>Event format</a:t>
                      </a:r>
                    </a:p>
                  </a:txBody>
                  <a:tcPr marL="54864" marR="54864" marT="27432" marB="27432">
                    <a:solidFill>
                      <a:srgbClr val="E8ED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2060"/>
                          </a:solidFill>
                          <a:latin typeface="Bookman Old Style"/>
                        </a:rPr>
                        <a:t>time (s), event (PASS / SCRAP / DOWN / UP), station, reason</a:t>
                      </a:r>
                    </a:p>
                  </a:txBody>
                  <a:tcPr marL="54864" marR="54864" marT="27432" marB="27432">
                    <a:solidFill>
                      <a:srgbClr val="E8ED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02060"/>
                          </a:solidFill>
                          <a:latin typeface="Bookman Old Style"/>
                        </a:rPr>
                        <a:t>Sensor timing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2060"/>
                          </a:solidFill>
                          <a:latin typeface="Bookman Old Style"/>
                        </a:rPr>
                        <a:t>IR debounce 400 ms; button debounce 200 ms; status sent every 1 s; dashboard refresh 2 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02060"/>
                          </a:solidFill>
                          <a:latin typeface="Bookman Old Style"/>
                        </a:rPr>
                        <a:t>Cycle time (per station)</a:t>
                      </a:r>
                    </a:p>
                  </a:txBody>
                  <a:tcPr marL="54864" marR="54864" marT="27432" marB="27432">
                    <a:solidFill>
                      <a:srgbClr val="E8ED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2060"/>
                          </a:solidFill>
                          <a:latin typeface="Bookman Old Style"/>
                        </a:rPr>
                        <a:t>finish(k) − max(arrive(k), finish(k−1)), so stations after the bottleneck do not look slow</a:t>
                      </a:r>
                    </a:p>
                  </a:txBody>
                  <a:tcPr marL="54864" marR="54864" marT="27432" marB="27432">
                    <a:solidFill>
                      <a:srgbClr val="E8ED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02060"/>
                          </a:solidFill>
                          <a:latin typeface="Bookman Old Style"/>
                        </a:rPr>
                        <a:t>WIP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2060"/>
                          </a:solidFill>
                          <a:latin typeface="Bookman Old Style"/>
                        </a:rPr>
                        <a:t>parts released at Station 1 minus parts that left Station 3 (good or scrap)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02060"/>
                          </a:solidFill>
                          <a:latin typeface="Bookman Old Style"/>
                        </a:rPr>
                        <a:t>Throughput / flow time</a:t>
                      </a:r>
                    </a:p>
                  </a:txBody>
                  <a:tcPr marL="54864" marR="54864" marT="27432" marB="27432">
                    <a:solidFill>
                      <a:srgbClr val="E8ED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2060"/>
                          </a:solidFill>
                          <a:latin typeface="Bookman Old Style"/>
                        </a:rPr>
                        <a:t>good parts per minute / exit time − entry time per part; checked with Little's law [7]</a:t>
                      </a:r>
                    </a:p>
                  </a:txBody>
                  <a:tcPr marL="54864" marR="54864" marT="27432" marB="27432">
                    <a:solidFill>
                      <a:srgbClr val="E8ED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02060"/>
                          </a:solidFill>
                          <a:latin typeface="Bookman Old Style"/>
                        </a:rPr>
                        <a:t>OEE proxy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2060"/>
                          </a:solidFill>
                          <a:latin typeface="Bookman Old Style"/>
                        </a:rPr>
                        <a:t>A × P × Q [3]; ideal cycle time set by the team: </a:t>
                      </a:r>
                      <a:r>
                        <a:rPr sz="1400" b="1">
                          <a:solidFill>
                            <a:srgbClr val="FF0000"/>
                          </a:solidFill>
                          <a:latin typeface="Bookman Old Style"/>
                        </a:rPr>
                        <a:t>__ 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02060"/>
                          </a:solidFill>
                          <a:latin typeface="Bookman Old Style"/>
                        </a:rPr>
                        <a:t>Experiments</a:t>
                      </a:r>
                    </a:p>
                  </a:txBody>
                  <a:tcPr marL="54864" marR="54864" marT="27432" marB="27432">
                    <a:solidFill>
                      <a:srgbClr val="E8ED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2060"/>
                          </a:solidFill>
                          <a:latin typeface="Bookman Old Style"/>
                        </a:rPr>
                        <a:t>baseline, rebalanced, WIP cap 2 / 4 / 6; 10 minutes per run, 3 repeats each</a:t>
                      </a:r>
                    </a:p>
                  </a:txBody>
                  <a:tcPr marL="54864" marR="54864" marT="27432" marB="27432">
                    <a:solidFill>
                      <a:srgbClr val="E8ED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02060"/>
                          </a:solidFill>
                          <a:latin typeface="Bookman Old Style"/>
                        </a:rPr>
                        <a:t>Targets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2060"/>
                          </a:solidFill>
                          <a:latin typeface="Bookman Old Style"/>
                        </a:rPr>
                        <a:t>count error ≤ 2%; Little's law gap ≤ 10%; alert fires every time WIP reaches the cap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0"/>
          <p:cNvSpPr txBox="1"/>
          <p:nvPr>
            <p:ph idx="12" type="sldNum"/>
          </p:nvPr>
        </p:nvSpPr>
        <p:spPr>
          <a:xfrm>
            <a:off x="9273988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84" name="Google Shape;184;p10"/>
          <p:cNvSpPr txBox="1"/>
          <p:nvPr/>
        </p:nvSpPr>
        <p:spPr>
          <a:xfrm>
            <a:off x="2284362" y="0"/>
            <a:ext cx="8146571" cy="8394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dash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IN" sz="4000" u="none" cap="none" strike="noStrike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Research Process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Rounded Rectangle 184"/>
          <p:cNvSpPr/>
          <p:nvPr/>
        </p:nvSpPr>
        <p:spPr>
          <a:xfrm>
            <a:off x="320040" y="1188720"/>
            <a:ext cx="2011680" cy="868680"/>
          </a:xfrm>
          <a:prstGeom prst="round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Bookman Old Style"/>
              </a:rPr>
              <a:t>Literature review</a:t>
            </a:r>
          </a:p>
        </p:txBody>
      </p:sp>
      <p:cxnSp>
        <p:nvCxnSpPr>
          <p:cNvPr id="186" name="Connector 185"/>
          <p:cNvCxnSpPr/>
          <p:nvPr/>
        </p:nvCxnSpPr>
        <p:spPr>
          <a:xfrm>
            <a:off x="2350008" y="1618488"/>
            <a:ext cx="283464" cy="0"/>
          </a:xfrm>
          <a:prstGeom prst="line">
            <a:avLst/>
          </a:prstGeom>
          <a:ln w="25400">
            <a:solidFill>
              <a:srgbClr val="002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7" name="Rounded Rectangle 186"/>
          <p:cNvSpPr/>
          <p:nvPr/>
        </p:nvSpPr>
        <p:spPr>
          <a:xfrm>
            <a:off x="2651760" y="1188720"/>
            <a:ext cx="2011680" cy="868680"/>
          </a:xfrm>
          <a:prstGeom prst="round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Bookman Old Style"/>
              </a:rPr>
              <a:t>Define problem and POs</a:t>
            </a:r>
          </a:p>
        </p:txBody>
      </p:sp>
      <p:cxnSp>
        <p:nvCxnSpPr>
          <p:cNvPr id="188" name="Connector 187"/>
          <p:cNvCxnSpPr/>
          <p:nvPr/>
        </p:nvCxnSpPr>
        <p:spPr>
          <a:xfrm>
            <a:off x="4681728" y="1618488"/>
            <a:ext cx="283464" cy="0"/>
          </a:xfrm>
          <a:prstGeom prst="line">
            <a:avLst/>
          </a:prstGeom>
          <a:ln w="25400">
            <a:solidFill>
              <a:srgbClr val="002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9" name="Rounded Rectangle 188"/>
          <p:cNvSpPr/>
          <p:nvPr/>
        </p:nvSpPr>
        <p:spPr>
          <a:xfrm>
            <a:off x="4983479" y="1188720"/>
            <a:ext cx="2011680" cy="868680"/>
          </a:xfrm>
          <a:prstGeom prst="round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Bookman Old Style"/>
              </a:rPr>
              <a:t>Design line and parts list</a:t>
            </a:r>
          </a:p>
        </p:txBody>
      </p:sp>
      <p:cxnSp>
        <p:nvCxnSpPr>
          <p:cNvPr id="190" name="Connector 189"/>
          <p:cNvCxnSpPr/>
          <p:nvPr/>
        </p:nvCxnSpPr>
        <p:spPr>
          <a:xfrm>
            <a:off x="7013448" y="1618488"/>
            <a:ext cx="283463" cy="0"/>
          </a:xfrm>
          <a:prstGeom prst="line">
            <a:avLst/>
          </a:prstGeom>
          <a:ln w="25400">
            <a:solidFill>
              <a:srgbClr val="002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1" name="Rounded Rectangle 190"/>
          <p:cNvSpPr/>
          <p:nvPr/>
        </p:nvSpPr>
        <p:spPr>
          <a:xfrm>
            <a:off x="7315199" y="1188720"/>
            <a:ext cx="2011680" cy="868680"/>
          </a:xfrm>
          <a:prstGeom prst="round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Bookman Old Style"/>
              </a:rPr>
              <a:t>Build and wire</a:t>
            </a:r>
          </a:p>
        </p:txBody>
      </p:sp>
      <p:cxnSp>
        <p:nvCxnSpPr>
          <p:cNvPr id="192" name="Connector 191"/>
          <p:cNvCxnSpPr/>
          <p:nvPr/>
        </p:nvCxnSpPr>
        <p:spPr>
          <a:xfrm>
            <a:off x="9345167" y="1618488"/>
            <a:ext cx="283465" cy="0"/>
          </a:xfrm>
          <a:prstGeom prst="line">
            <a:avLst/>
          </a:prstGeom>
          <a:ln w="25400">
            <a:solidFill>
              <a:srgbClr val="002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3" name="Rounded Rectangle 192"/>
          <p:cNvSpPr/>
          <p:nvPr/>
        </p:nvSpPr>
        <p:spPr>
          <a:xfrm>
            <a:off x="9646919" y="1188720"/>
            <a:ext cx="2011680" cy="868680"/>
          </a:xfrm>
          <a:prstGeom prst="round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Bookman Old Style"/>
              </a:rPr>
              <a:t>Calibrate: count vs hand tally</a:t>
            </a:r>
          </a:p>
        </p:txBody>
      </p:sp>
      <p:sp>
        <p:nvSpPr>
          <p:cNvPr id="194" name="Diamond 193"/>
          <p:cNvSpPr/>
          <p:nvPr/>
        </p:nvSpPr>
        <p:spPr>
          <a:xfrm>
            <a:off x="9281160" y="2377440"/>
            <a:ext cx="2377440" cy="1280160"/>
          </a:xfrm>
          <a:prstGeom prst="diamond">
            <a:avLst/>
          </a:prstGeom>
          <a:solidFill>
            <a:srgbClr val="FFFFFF"/>
          </a:solidFill>
          <a:ln w="254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C00000"/>
                </a:solidFill>
                <a:latin typeface="Bookman Old Style"/>
              </a:rPr>
              <a:t>Error ≤ 2%?</a:t>
            </a:r>
          </a:p>
        </p:txBody>
      </p:sp>
      <p:cxnSp>
        <p:nvCxnSpPr>
          <p:cNvPr id="195" name="Connector 194"/>
          <p:cNvCxnSpPr/>
          <p:nvPr/>
        </p:nvCxnSpPr>
        <p:spPr>
          <a:xfrm>
            <a:off x="10469880" y="2075688"/>
            <a:ext cx="0" cy="283464"/>
          </a:xfrm>
          <a:prstGeom prst="line">
            <a:avLst/>
          </a:prstGeom>
          <a:ln w="25400">
            <a:solidFill>
              <a:srgbClr val="002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6" name="TextBox 195"/>
          <p:cNvSpPr txBox="1"/>
          <p:nvPr/>
        </p:nvSpPr>
        <p:spPr>
          <a:xfrm>
            <a:off x="7863840" y="2514600"/>
            <a:ext cx="1371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200" b="1" i="0">
                <a:solidFill>
                  <a:srgbClr val="C00000"/>
                </a:solidFill>
                <a:latin typeface="Bookman Old Style"/>
              </a:rPr>
              <a:t>No: adjust</a:t>
            </a:r>
          </a:p>
        </p:txBody>
      </p:sp>
      <p:cxnSp>
        <p:nvCxnSpPr>
          <p:cNvPr id="197" name="Connector 196"/>
          <p:cNvCxnSpPr/>
          <p:nvPr/>
        </p:nvCxnSpPr>
        <p:spPr>
          <a:xfrm flipH="1">
            <a:off x="8641080" y="3017520"/>
            <a:ext cx="621792" cy="0"/>
          </a:xfrm>
          <a:prstGeom prst="line">
            <a:avLst/>
          </a:prstGeom>
          <a:ln w="25400">
            <a:solidFill>
              <a:srgbClr val="C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8" name="Rounded Rectangle 197"/>
          <p:cNvSpPr/>
          <p:nvPr/>
        </p:nvSpPr>
        <p:spPr>
          <a:xfrm>
            <a:off x="6629400" y="2606040"/>
            <a:ext cx="2011680" cy="822960"/>
          </a:xfrm>
          <a:prstGeom prst="roundRect">
            <a:avLst/>
          </a:prstGeom>
          <a:solidFill>
            <a:srgbClr val="E8EDF6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002060"/>
                </a:solidFill>
                <a:latin typeface="Bookman Old Style"/>
              </a:rPr>
              <a:t>Fix gates and sensor range</a:t>
            </a:r>
          </a:p>
        </p:txBody>
      </p:sp>
      <p:cxnSp>
        <p:nvCxnSpPr>
          <p:cNvPr id="199" name="Connector 198"/>
          <p:cNvCxnSpPr/>
          <p:nvPr/>
        </p:nvCxnSpPr>
        <p:spPr>
          <a:xfrm flipV="1">
            <a:off x="7635240" y="2075688"/>
            <a:ext cx="0" cy="512064"/>
          </a:xfrm>
          <a:prstGeom prst="line">
            <a:avLst/>
          </a:prstGeom>
          <a:ln w="25400">
            <a:solidFill>
              <a:srgbClr val="C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TextBox 199"/>
          <p:cNvSpPr txBox="1"/>
          <p:nvPr/>
        </p:nvSpPr>
        <p:spPr>
          <a:xfrm>
            <a:off x="10561320" y="3657600"/>
            <a:ext cx="10972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1E7B34"/>
                </a:solidFill>
                <a:latin typeface="Bookman Old Style"/>
              </a:rPr>
              <a:t>Yes</a:t>
            </a:r>
          </a:p>
        </p:txBody>
      </p:sp>
      <p:sp>
        <p:nvSpPr>
          <p:cNvPr id="201" name="Rounded Rectangle 200"/>
          <p:cNvSpPr/>
          <p:nvPr/>
        </p:nvSpPr>
        <p:spPr>
          <a:xfrm>
            <a:off x="9281160" y="4069080"/>
            <a:ext cx="2011680" cy="868680"/>
          </a:xfrm>
          <a:prstGeom prst="round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Bookman Old Style"/>
              </a:rPr>
              <a:t>Run 1: baseline</a:t>
            </a:r>
          </a:p>
        </p:txBody>
      </p:sp>
      <p:cxnSp>
        <p:nvCxnSpPr>
          <p:cNvPr id="202" name="Connector 201"/>
          <p:cNvCxnSpPr/>
          <p:nvPr/>
        </p:nvCxnSpPr>
        <p:spPr>
          <a:xfrm flipH="1">
            <a:off x="9070848" y="4498848"/>
            <a:ext cx="192024" cy="0"/>
          </a:xfrm>
          <a:prstGeom prst="line">
            <a:avLst/>
          </a:prstGeom>
          <a:ln w="25400">
            <a:solidFill>
              <a:srgbClr val="002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3" name="Rounded Rectangle 202"/>
          <p:cNvSpPr/>
          <p:nvPr/>
        </p:nvSpPr>
        <p:spPr>
          <a:xfrm>
            <a:off x="7040880" y="4069080"/>
            <a:ext cx="2011680" cy="868680"/>
          </a:xfrm>
          <a:prstGeom prst="round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Bookman Old Style"/>
              </a:rPr>
              <a:t>Find bottleneck</a:t>
            </a:r>
          </a:p>
        </p:txBody>
      </p:sp>
      <p:cxnSp>
        <p:nvCxnSpPr>
          <p:cNvPr id="204" name="Connector 203"/>
          <p:cNvCxnSpPr/>
          <p:nvPr/>
        </p:nvCxnSpPr>
        <p:spPr>
          <a:xfrm flipH="1">
            <a:off x="6830568" y="4498848"/>
            <a:ext cx="192024" cy="0"/>
          </a:xfrm>
          <a:prstGeom prst="line">
            <a:avLst/>
          </a:prstGeom>
          <a:ln w="25400">
            <a:solidFill>
              <a:srgbClr val="002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5" name="Rounded Rectangle 204"/>
          <p:cNvSpPr/>
          <p:nvPr/>
        </p:nvSpPr>
        <p:spPr>
          <a:xfrm>
            <a:off x="4800600" y="4069080"/>
            <a:ext cx="2011680" cy="868680"/>
          </a:xfrm>
          <a:prstGeom prst="round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Bookman Old Style"/>
              </a:rPr>
              <a:t>Run 2: rebalanced</a:t>
            </a:r>
          </a:p>
        </p:txBody>
      </p:sp>
      <p:cxnSp>
        <p:nvCxnSpPr>
          <p:cNvPr id="206" name="Connector 205"/>
          <p:cNvCxnSpPr/>
          <p:nvPr/>
        </p:nvCxnSpPr>
        <p:spPr>
          <a:xfrm flipH="1">
            <a:off x="4590288" y="4498848"/>
            <a:ext cx="192024" cy="0"/>
          </a:xfrm>
          <a:prstGeom prst="line">
            <a:avLst/>
          </a:prstGeom>
          <a:ln w="25400">
            <a:solidFill>
              <a:srgbClr val="002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7" name="Rounded Rectangle 206"/>
          <p:cNvSpPr/>
          <p:nvPr/>
        </p:nvSpPr>
        <p:spPr>
          <a:xfrm>
            <a:off x="2560320" y="4069080"/>
            <a:ext cx="2011680" cy="86868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Bookman Old Style"/>
              </a:rPr>
              <a:t>Run 3: WIP caps 2/4/6</a:t>
            </a:r>
          </a:p>
        </p:txBody>
      </p:sp>
      <p:cxnSp>
        <p:nvCxnSpPr>
          <p:cNvPr id="208" name="Connector 207"/>
          <p:cNvCxnSpPr/>
          <p:nvPr/>
        </p:nvCxnSpPr>
        <p:spPr>
          <a:xfrm flipH="1">
            <a:off x="2350008" y="4498848"/>
            <a:ext cx="192024" cy="0"/>
          </a:xfrm>
          <a:prstGeom prst="line">
            <a:avLst/>
          </a:prstGeom>
          <a:ln w="25400">
            <a:solidFill>
              <a:srgbClr val="002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9" name="Rounded Rectangle 208"/>
          <p:cNvSpPr/>
          <p:nvPr/>
        </p:nvSpPr>
        <p:spPr>
          <a:xfrm>
            <a:off x="320039" y="4069080"/>
            <a:ext cx="2011680" cy="868680"/>
          </a:xfrm>
          <a:prstGeom prst="round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Bookman Old Style"/>
              </a:rPr>
              <a:t>Analyse: Little's law, OEE</a:t>
            </a:r>
          </a:p>
        </p:txBody>
      </p:sp>
      <p:cxnSp>
        <p:nvCxnSpPr>
          <p:cNvPr id="210" name="Connector 209"/>
          <p:cNvCxnSpPr/>
          <p:nvPr/>
        </p:nvCxnSpPr>
        <p:spPr>
          <a:xfrm>
            <a:off x="10469880" y="3675887"/>
            <a:ext cx="0" cy="374904"/>
          </a:xfrm>
          <a:prstGeom prst="line">
            <a:avLst/>
          </a:prstGeom>
          <a:ln w="25400">
            <a:solidFill>
              <a:srgbClr val="002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1" name="Rounded Rectangle 210"/>
          <p:cNvSpPr/>
          <p:nvPr/>
        </p:nvSpPr>
        <p:spPr>
          <a:xfrm>
            <a:off x="320040" y="5349240"/>
            <a:ext cx="3657600" cy="731520"/>
          </a:xfrm>
          <a:prstGeom prst="roundRect">
            <a:avLst/>
          </a:prstGeom>
          <a:solidFill>
            <a:srgbClr val="E8EDF6"/>
          </a:solidFill>
          <a:ln w="1587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002060"/>
                </a:solidFill>
                <a:latin typeface="Bookman Old Style"/>
              </a:rPr>
              <a:t>Repeat on Bosch public data</a:t>
            </a:r>
          </a:p>
        </p:txBody>
      </p:sp>
      <p:sp>
        <p:nvSpPr>
          <p:cNvPr id="212" name="Rounded Rectangle 211"/>
          <p:cNvSpPr/>
          <p:nvPr/>
        </p:nvSpPr>
        <p:spPr>
          <a:xfrm>
            <a:off x="4343400" y="5349240"/>
            <a:ext cx="3657600" cy="731520"/>
          </a:xfrm>
          <a:prstGeom prst="roundRect">
            <a:avLst/>
          </a:prstGeom>
          <a:solidFill>
            <a:srgbClr val="E8EDF6"/>
          </a:solidFill>
          <a:ln w="1587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002060"/>
                </a:solidFill>
                <a:latin typeface="Bookman Old Style"/>
              </a:rPr>
              <a:t>Report, poster, paper draft</a:t>
            </a:r>
          </a:p>
        </p:txBody>
      </p:sp>
      <p:cxnSp>
        <p:nvCxnSpPr>
          <p:cNvPr id="213" name="Connector 212"/>
          <p:cNvCxnSpPr/>
          <p:nvPr/>
        </p:nvCxnSpPr>
        <p:spPr>
          <a:xfrm>
            <a:off x="1325880" y="4956048"/>
            <a:ext cx="0" cy="374904"/>
          </a:xfrm>
          <a:prstGeom prst="line">
            <a:avLst/>
          </a:prstGeom>
          <a:ln w="25400">
            <a:solidFill>
              <a:srgbClr val="002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3995928" y="5715000"/>
            <a:ext cx="329184" cy="0"/>
          </a:xfrm>
          <a:prstGeom prst="line">
            <a:avLst/>
          </a:prstGeom>
          <a:ln w="25400">
            <a:solidFill>
              <a:srgbClr val="002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1"/>
          <p:cNvSpPr txBox="1"/>
          <p:nvPr>
            <p:ph idx="1" type="body"/>
          </p:nvPr>
        </p:nvSpPr>
        <p:spPr>
          <a:xfrm>
            <a:off x="247650" y="1117600"/>
            <a:ext cx="11769538" cy="52296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IN" sz="1700" b="1"/>
              <a:t xml:space="preserve">Expected results: </a:t>
            </a:r>
            <a:r>
              <a:rPr lang="en-IN" sz="1700" b="0"/>
              <a:t>a working prototype (3-station line and live dashboard) and a results table comparing baseline, rebalanced and WIP-capped runs: throughput, average WIP, flow time, cycle time per station, OEE proxy and scrap rate.</a:t>
            </a:r>
          </a:p>
          <a:p>
            <a:pPr indent="-228600" lvl="0" marL="228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IN" sz="1700" b="1"/>
              <a:t xml:space="preserve">Success criteria: </a:t>
            </a:r>
            <a:r>
              <a:rPr lang="en-IN" sz="1700" b="0"/>
              <a:t xml:space="preserve">PO1 to PO4 met. Improvement after rebalancing: </a:t>
            </a:r>
            <a:r>
              <a:rPr lang="en-IN" sz="1700" b="1">
                <a:solidFill>
                  <a:srgbClr val="FF0000"/>
                </a:solidFill>
              </a:rPr>
              <a:t>__ %</a:t>
            </a:r>
            <a:r>
              <a:rPr lang="en-IN" sz="1700" b="0"/>
              <a:t xml:space="preserve"> (to be measured, not assumed).</a:t>
            </a:r>
          </a:p>
          <a:p>
            <a:pPr indent="-228600" lvl="0" marL="228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IN" sz="1700" b="1"/>
              <a:t xml:space="preserve">Potential impact: </a:t>
            </a:r>
            <a:r>
              <a:rPr lang="en-IN" sz="1700" b="0"/>
              <a:t>shows that count, cycle time, inventory and workflow can be watched live with low-cost parts, as a template for small units and student labs.</a:t>
            </a:r>
          </a:p>
          <a:p>
            <a:pPr indent="-228600" lvl="0" marL="228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IN" sz="1700" b="1"/>
              <a:t xml:space="preserve">Limits we will state: </a:t>
            </a:r>
            <a:r>
              <a:rPr lang="en-IN" sz="1700" b="0"/>
              <a:t>OEE is a proxy (our own ideal cycle time); parts are moved by hand; Bosch time units are estimated by the Kaggle community, not published by Bosch [8].</a:t>
            </a:r>
          </a:p>
          <a:p>
            <a:pPr indent="-228600" lvl="0" marL="228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IN" sz="1700" b="1"/>
              <a:t xml:space="preserve">Future research directions: </a:t>
            </a:r>
            <a:r>
              <a:rPr lang="en-IN" sz="1700" b="0"/>
              <a:t>wireless boards, more stations and product types, and testing the WIP-limit alert on more real factory data.</a:t>
            </a:r>
          </a:p>
        </p:txBody>
      </p:sp>
      <p:sp>
        <p:nvSpPr>
          <p:cNvPr id="190" name="Google Shape;190;p11"/>
          <p:cNvSpPr txBox="1"/>
          <p:nvPr>
            <p:ph idx="12" type="sldNum"/>
          </p:nvPr>
        </p:nvSpPr>
        <p:spPr>
          <a:xfrm>
            <a:off x="9273988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91" name="Google Shape;191;p11"/>
          <p:cNvSpPr txBox="1"/>
          <p:nvPr/>
        </p:nvSpPr>
        <p:spPr>
          <a:xfrm>
            <a:off x="2284362" y="0"/>
            <a:ext cx="8146571" cy="8394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dash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IN" sz="4000" u="none" cap="none" strike="noStrike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Proposed Outcomes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2"/>
          <p:cNvSpPr txBox="1"/>
          <p:nvPr>
            <p:ph idx="12" type="sldNum"/>
          </p:nvPr>
        </p:nvSpPr>
        <p:spPr>
          <a:xfrm>
            <a:off x="9273988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98" name="Google Shape;198;p12"/>
          <p:cNvSpPr txBox="1"/>
          <p:nvPr/>
        </p:nvSpPr>
        <p:spPr>
          <a:xfrm>
            <a:off x="2284362" y="0"/>
            <a:ext cx="8146571" cy="8394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dash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IN" sz="4000" u="none" cap="none" strike="noStrike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Timeline of the Project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99" name="Table 198"/>
          <p:cNvGraphicFramePr>
            <a:graphicFrameLocks noGrp="1"/>
          </p:cNvGraphicFramePr>
          <p:nvPr/>
        </p:nvGraphicFramePr>
        <p:xfrm>
          <a:off x="365760" y="1097280"/>
          <a:ext cx="114300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377440"/>
                <a:gridCol w="4480560"/>
                <a:gridCol w="2103120"/>
                <a:gridCol w="1554480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Bookman Old Style"/>
                        </a:rPr>
                        <a:t>Sprint</a:t>
                      </a:r>
                    </a:p>
                  </a:txBody>
                  <a:tcPr marL="54864" marR="54864" marT="27432" marB="27432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Bookman Old Style"/>
                        </a:rPr>
                        <a:t>Dates</a:t>
                      </a:r>
                    </a:p>
                  </a:txBody>
                  <a:tcPr marL="54864" marR="54864" marT="27432" marB="27432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Bookman Old Style"/>
                        </a:rPr>
                        <a:t>Work</a:t>
                      </a:r>
                    </a:p>
                  </a:txBody>
                  <a:tcPr marL="54864" marR="54864" marT="27432" marB="27432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Bookman Old Style"/>
                        </a:rPr>
                        <a:t>Linked to</a:t>
                      </a:r>
                    </a:p>
                  </a:txBody>
                  <a:tcPr marL="54864" marR="54864" marT="27432" marB="27432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Bookman Old Style"/>
                        </a:rPr>
                        <a:t>Status</a:t>
                      </a:r>
                    </a:p>
                  </a:txBody>
                  <a:tcPr marL="54864" marR="54864" marT="27432" marB="27432">
                    <a:solidFill>
                      <a:srgbClr val="002060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2060"/>
                          </a:solidFill>
                          <a:latin typeface="Bookman Old Style"/>
                        </a:rPr>
                        <a:t>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2060"/>
                          </a:solidFill>
                          <a:latin typeface="Bookman Old Style"/>
                        </a:rPr>
                        <a:t>23 to 29 Oct 2026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2060"/>
                          </a:solidFill>
                          <a:latin typeface="Bookman Old Style"/>
                        </a:rPr>
                        <a:t>Problem, literature review, POs, line design, parts list, code skeleton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2060"/>
                          </a:solidFill>
                          <a:latin typeface="Bookman Old Style"/>
                        </a:rPr>
                        <a:t>Phase I review (29 Oct)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E7B34"/>
                          </a:solidFill>
                          <a:latin typeface="Bookman Old Style"/>
                        </a:rPr>
                        <a:t>Done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2060"/>
                          </a:solidFill>
                          <a:latin typeface="Bookman Old Style"/>
                        </a:rPr>
                        <a:t>2</a:t>
                      </a:r>
                    </a:p>
                  </a:txBody>
                  <a:tcPr marL="54864" marR="54864" marT="27432" marB="27432">
                    <a:solidFill>
                      <a:srgbClr val="E8ED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2060"/>
                          </a:solidFill>
                          <a:latin typeface="Bookman Old Style"/>
                        </a:rPr>
                        <a:t>30 Oct to 1 Nov 2026</a:t>
                      </a:r>
                    </a:p>
                  </a:txBody>
                  <a:tcPr marL="54864" marR="54864" marT="27432" marB="27432">
                    <a:solidFill>
                      <a:srgbClr val="E8ED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2060"/>
                          </a:solidFill>
                          <a:latin typeface="Bookman Old Style"/>
                        </a:rPr>
                        <a:t>Wire all sensors, logger and dashboard running together</a:t>
                      </a:r>
                    </a:p>
                  </a:txBody>
                  <a:tcPr marL="54864" marR="54864" marT="27432" marB="27432">
                    <a:solidFill>
                      <a:srgbClr val="E8ED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2060"/>
                          </a:solidFill>
                          <a:latin typeface="Bookman Old Style"/>
                        </a:rPr>
                        <a:t>PO1, PO2</a:t>
                      </a:r>
                    </a:p>
                  </a:txBody>
                  <a:tcPr marL="54864" marR="54864" marT="27432" marB="27432">
                    <a:solidFill>
                      <a:srgbClr val="E8ED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C00000"/>
                          </a:solidFill>
                          <a:latin typeface="Bookman Old Style"/>
                        </a:rPr>
                        <a:t>In progress</a:t>
                      </a:r>
                    </a:p>
                  </a:txBody>
                  <a:tcPr marL="54864" marR="54864" marT="27432" marB="27432">
                    <a:solidFill>
                      <a:srgbClr val="E8EDF6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2060"/>
                          </a:solidFill>
                          <a:latin typeface="Bookman Old Style"/>
                        </a:rPr>
                        <a:t>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2060"/>
                          </a:solidFill>
                          <a:latin typeface="Bookman Old Style"/>
                        </a:rPr>
                        <a:t>2 Nov to </a:t>
                      </a:r>
                      <a:r>
                        <a:rPr sz="1500" b="1">
                          <a:solidFill>
                            <a:srgbClr val="FF0000"/>
                          </a:solidFill>
                          <a:latin typeface="Bookman Old Style"/>
                        </a:rPr>
                        <a:t>__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2060"/>
                          </a:solidFill>
                          <a:latin typeface="Bookman Old Style"/>
                        </a:rPr>
                        <a:t>Count accuracy test, Bosch data mode, first runs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2060"/>
                          </a:solidFill>
                          <a:latin typeface="Bookman Old Style"/>
                        </a:rPr>
                        <a:t>PO1, PO2, Phase II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2060"/>
                          </a:solidFill>
                          <a:latin typeface="Bookman Old Style"/>
                        </a:rPr>
                        <a:t>Not started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2060"/>
                          </a:solidFill>
                          <a:latin typeface="Bookman Old Style"/>
                        </a:rPr>
                        <a:t>4</a:t>
                      </a:r>
                    </a:p>
                  </a:txBody>
                  <a:tcPr marL="54864" marR="54864" marT="27432" marB="27432">
                    <a:solidFill>
                      <a:srgbClr val="E8ED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0000"/>
                          </a:solidFill>
                          <a:latin typeface="Bookman Old Style"/>
                        </a:rPr>
                        <a:t>__</a:t>
                      </a:r>
                      <a:r>
                        <a:rPr sz="1500" b="0">
                          <a:solidFill>
                            <a:srgbClr val="002060"/>
                          </a:solidFill>
                          <a:latin typeface="Bookman Old Style"/>
                        </a:rPr>
                        <a:t> to </a:t>
                      </a:r>
                      <a:r>
                        <a:rPr sz="1500" b="1">
                          <a:solidFill>
                            <a:srgbClr val="FF0000"/>
                          </a:solidFill>
                          <a:latin typeface="Bookman Old Style"/>
                        </a:rPr>
                        <a:t>__</a:t>
                      </a:r>
                    </a:p>
                  </a:txBody>
                  <a:tcPr marL="54864" marR="54864" marT="27432" marB="27432">
                    <a:solidFill>
                      <a:srgbClr val="E8ED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2060"/>
                          </a:solidFill>
                          <a:latin typeface="Bookman Old Style"/>
                        </a:rPr>
                        <a:t>Baseline, rebalance and WIP-cap experiments (3 repeats each)</a:t>
                      </a:r>
                    </a:p>
                  </a:txBody>
                  <a:tcPr marL="54864" marR="54864" marT="27432" marB="27432">
                    <a:solidFill>
                      <a:srgbClr val="E8ED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2060"/>
                          </a:solidFill>
                          <a:latin typeface="Bookman Old Style"/>
                        </a:rPr>
                        <a:t>PO3, PO4</a:t>
                      </a:r>
                    </a:p>
                  </a:txBody>
                  <a:tcPr marL="54864" marR="54864" marT="27432" marB="27432">
                    <a:solidFill>
                      <a:srgbClr val="E8ED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2060"/>
                          </a:solidFill>
                          <a:latin typeface="Bookman Old Style"/>
                        </a:rPr>
                        <a:t>Not started</a:t>
                      </a:r>
                    </a:p>
                  </a:txBody>
                  <a:tcPr marL="54864" marR="54864" marT="27432" marB="27432">
                    <a:solidFill>
                      <a:srgbClr val="E8EDF6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02060"/>
                          </a:solidFill>
                          <a:latin typeface="Bookman Old Style"/>
                        </a:rPr>
                        <a:t>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0000"/>
                          </a:solidFill>
                          <a:latin typeface="Bookman Old Style"/>
                        </a:rPr>
                        <a:t>__</a:t>
                      </a:r>
                      <a:r>
                        <a:rPr sz="1500" b="0">
                          <a:solidFill>
                            <a:srgbClr val="002060"/>
                          </a:solidFill>
                          <a:latin typeface="Bookman Old Style"/>
                        </a:rPr>
                        <a:t> to </a:t>
                      </a:r>
                      <a:r>
                        <a:rPr sz="1500" b="1">
                          <a:solidFill>
                            <a:srgbClr val="FF0000"/>
                          </a:solidFill>
                          <a:latin typeface="Bookman Old Style"/>
                        </a:rPr>
                        <a:t>__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2060"/>
                          </a:solidFill>
                          <a:latin typeface="Bookman Old Style"/>
                        </a:rPr>
                        <a:t>Results, report, poster, PPT, paper draft, demo rehearsal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2060"/>
                          </a:solidFill>
                          <a:latin typeface="Bookman Old Style"/>
                        </a:rPr>
                        <a:t>Phase III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002060"/>
                          </a:solidFill>
                          <a:latin typeface="Bookman Old Style"/>
                        </a:rPr>
                        <a:t>Not started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0" name="TextBox 199"/>
          <p:cNvSpPr txBox="1"/>
          <p:nvPr/>
        </p:nvSpPr>
        <p:spPr>
          <a:xfrm>
            <a:off x="365760" y="5257800"/>
            <a:ext cx="114300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Bookman Old Style"/>
              </a:rPr>
              <a:t>Phase II date: </a:t>
            </a:r>
            <a:r>
              <a:rPr sz="1300" b="1" i="0">
                <a:solidFill>
                  <a:srgbClr val="FF0000"/>
                </a:solidFill>
                <a:latin typeface="Bookman Old Style"/>
              </a:rPr>
              <a:t>__ / __ / 2026</a:t>
            </a:r>
            <a:r>
              <a:rPr sz="1300" b="1" i="0">
                <a:solidFill>
                  <a:srgbClr val="002060"/>
                </a:solidFill>
                <a:latin typeface="Bookman Old Style"/>
              </a:rPr>
              <a:t>     Phase III date: </a:t>
            </a:r>
            <a:r>
              <a:rPr sz="1300" b="1" i="0">
                <a:solidFill>
                  <a:srgbClr val="FF0000"/>
                </a:solidFill>
                <a:latin typeface="Bookman Old Style"/>
              </a:rPr>
              <a:t>__ / __ / 2027</a:t>
            </a:r>
            <a:r>
              <a:rPr sz="1300" b="0" i="0">
                <a:solidFill>
                  <a:srgbClr val="002060"/>
                </a:solidFill>
                <a:latin typeface="Bookman Old Style"/>
              </a:rPr>
              <a:t>     (dates to be announced; sprints will be fixed backwards from them)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3"/>
          <p:cNvSpPr txBox="1"/>
          <p:nvPr>
            <p:ph idx="1" type="body"/>
          </p:nvPr>
        </p:nvSpPr>
        <p:spPr>
          <a:xfrm>
            <a:off x="174811" y="1117600"/>
            <a:ext cx="11842377" cy="52296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IN" sz="2000" b="1"/>
              <a:t xml:space="preserve">Summary of key points: </a:t>
            </a:r>
            <a:r>
              <a:rPr lang="en-IN" sz="2000" b="0"/>
              <a:t>OptiProductio measures production count, cycle time, inventory and workflow on a 3-station model line, live, using an Arduino UNO, low-cost sensors and a Python dashboard.</a:t>
            </a:r>
          </a:p>
          <a:p>
            <a:pPr indent="-228600" lvl="0" marL="2286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IN" sz="2000" b="1"/>
              <a:t xml:space="preserve">What makes it different: </a:t>
            </a:r>
            <a:r>
              <a:rPr lang="en-IN" sz="2000" b="0"/>
              <a:t>it adds a WIP-limit alert based on CONWIP [5], and it checks its own numbers against a hand tally and Little's law [7].</a:t>
            </a:r>
          </a:p>
          <a:p>
            <a:pPr indent="-228600" lvl="0" marL="2286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IN" sz="2000" b="1"/>
              <a:t xml:space="preserve">Final thought: </a:t>
            </a:r>
            <a:r>
              <a:rPr lang="en-IN" sz="2000" b="0"/>
              <a:t>you cannot improve a line you cannot see. OptiProductio makes the line visible cheaply.</a:t>
            </a:r>
          </a:p>
          <a:p>
            <a:pPr indent="-228600" lvl="0" marL="2286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IN" sz="2000" b="1"/>
              <a:t xml:space="preserve">Next steps: </a:t>
            </a:r>
            <a:r>
              <a:rPr lang="en-IN" sz="2000" b="0"/>
              <a:t>finish wiring by 1 Nov, run the count accuracy test (PO1), then bring partial results to Phase II.</a:t>
            </a:r>
          </a:p>
        </p:txBody>
      </p:sp>
      <p:sp>
        <p:nvSpPr>
          <p:cNvPr id="205" name="Google Shape;205;p13"/>
          <p:cNvSpPr txBox="1"/>
          <p:nvPr>
            <p:ph idx="12" type="sldNum"/>
          </p:nvPr>
        </p:nvSpPr>
        <p:spPr>
          <a:xfrm>
            <a:off x="9273988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06" name="Google Shape;206;p13"/>
          <p:cNvSpPr txBox="1"/>
          <p:nvPr/>
        </p:nvSpPr>
        <p:spPr>
          <a:xfrm>
            <a:off x="2284362" y="145670"/>
            <a:ext cx="8146571" cy="8394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dash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IN" sz="4000" u="none" cap="none" strike="noStrike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Conclusion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4"/>
          <p:cNvSpPr txBox="1"/>
          <p:nvPr>
            <p:ph idx="1" type="body"/>
          </p:nvPr>
        </p:nvSpPr>
        <p:spPr>
          <a:xfrm>
            <a:off x="389467" y="1051560"/>
            <a:ext cx="11192933" cy="5212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500" b="0"/>
              <a:t>[1] Press Information Bureau. (2024, December 23). The MSME revolution: Transforming India's economic landscape. Government of India. https://static.pib.gov.in/WriteReadData/specificdocs/documents/2024/dec/doc20241223476301.pdf</a:t>
            </a: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IN" sz="1500" b="0"/>
              <a:t>[2] Hwang, G., Lee, J., Park, J., &amp; Chang, T.-W. (2017). Developing performance measurement system for Internet of Things and smart factory environment. International Journal of Production Research, 55(9), 2590–2602. https://doi.org/10.1080/00207543.2016.1245883</a:t>
            </a: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IN" sz="1500" b="0"/>
              <a:t>[3] Ng Corrales, L. del C., Lambán, M. P., Hernandez Korner, M. E., &amp; Royo, J. (2020). Overall equipment effectiveness: Systematic literature review and overview of different approaches. Applied Sciences, 10(18), 6469. https://doi.org/10.3390/app10186469</a:t>
            </a: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IN" sz="1500" b="0"/>
              <a:t>[4] Wicaksono, A. A., Ningsih, Y. K., &amp; Surjati, I. (2024). Implementation of MQTT protocol on ESP32-based OEE analysis development board. Emitor: Jurnal Teknik Elektro, 24(2), 169–175. https://doi.org/10.23917/emitor.v24i2.3908</a:t>
            </a: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IN" sz="1500" b="0"/>
              <a:t>[5] Spearman, M. L., Woodruff, D. L., &amp; Hopp, W. J. (1990). CONWIP: A pull alternative to kanban. International Journal of Production Research, 28(5), 879–894. https://doi.org/10.1080/00207549008942761</a:t>
            </a: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IN" sz="1500" b="0"/>
              <a:t>[6] Thürer, M., Li, S. S., Yang, C., Qu, T., &amp; Huang, G. Q. (2023). Does regulating work-in-process increase throughput and reduce cycle times? An assessment by lab scale system models. In Advances in Production Management Systems (APMS 2023), IFIP AICT 691 (pp. 649–661). Springer. https://doi.org/10.1007/978-3-031-43670-3_45</a:t>
            </a: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IN" sz="1500" b="0"/>
              <a:t>[7] Little, J. D. C. (2011). Little's law as viewed on its 50th anniversary. Operations Research, 59(3), 536–549. https://doi.org/10.1287/opre.1110.0940</a:t>
            </a:r>
          </a:p>
        </p:txBody>
      </p:sp>
      <p:sp>
        <p:nvSpPr>
          <p:cNvPr id="213" name="Google Shape;213;p14"/>
          <p:cNvSpPr txBox="1"/>
          <p:nvPr>
            <p:ph idx="12" type="sldNum"/>
          </p:nvPr>
        </p:nvSpPr>
        <p:spPr>
          <a:xfrm>
            <a:off x="9273988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14" name="Google Shape;214;p14"/>
          <p:cNvSpPr txBox="1"/>
          <p:nvPr/>
        </p:nvSpPr>
        <p:spPr>
          <a:xfrm>
            <a:off x="2284362" y="145670"/>
            <a:ext cx="8146571" cy="8394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dash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IN" sz="4000" u="none" cap="none" strike="noStrike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References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4"/>
          <p:cNvSpPr txBox="1"/>
          <p:nvPr>
            <p:ph idx="1" type="body"/>
          </p:nvPr>
        </p:nvSpPr>
        <p:spPr>
          <a:xfrm>
            <a:off x="389467" y="1051560"/>
            <a:ext cx="11192933" cy="5212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500" b="0"/>
              <a:t>[8] Mangal, A., &amp; Kumar, N. (2017). Using big data to enhance the Bosch production line performance: A Kaggle challenge. arXiv. https://arxiv.org/abs/1701.00705</a:t>
            </a: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IN" sz="1500" b="0"/>
              <a:t>[9] Pettersen, J.-A., &amp; Segerstedt, A. (2009). Restricted work-in-process: A study of differences between Kanban and CONWIP. International Journal of Production Economics, 118(1), 199–207.</a:t>
            </a: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IN" sz="1500" b="0"/>
              <a:t>[10] International Organization for Standardization. (2014). Automation systems and integration: Key performance indicators (KPIs) for manufacturing operations management. Part 2 (ISO 22400-2:2014). https://www.iso.org/standard/54497.html</a:t>
            </a: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IN" sz="1500" b="0"/>
              <a:t>[11] Cordon, C. (1995). Quality defaults and work-in-process inventory. European Journal of Operational Research, 80(2), 240–251.</a:t>
            </a: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IN" sz="1500" b="0"/>
              <a:t>[12] Bosch. (2016). Bosch production line performance [Data set]. Kaggle. https://www.kaggle.com/c/bosch-production-line-performance</a:t>
            </a: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IN" sz="1500" b="0"/>
              <a:t>[13] The Patents Act, 1970, § 3(k) (India). https://www.indiacode.nic.in/handle/123456789/1392</a:t>
            </a:r>
          </a:p>
        </p:txBody>
      </p:sp>
      <p:sp>
        <p:nvSpPr>
          <p:cNvPr id="213" name="Google Shape;213;p14"/>
          <p:cNvSpPr txBox="1"/>
          <p:nvPr>
            <p:ph idx="12" type="sldNum"/>
          </p:nvPr>
        </p:nvSpPr>
        <p:spPr>
          <a:xfrm>
            <a:off x="9273988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14" name="Google Shape;214;p14"/>
          <p:cNvSpPr txBox="1"/>
          <p:nvPr/>
        </p:nvSpPr>
        <p:spPr>
          <a:xfrm>
            <a:off x="2284362" y="145670"/>
            <a:ext cx="8146571" cy="83940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dash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IN" sz="4000" u="none" cap="none" strike="noStrike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References (contd.)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5"/>
          <p:cNvSpPr txBox="1"/>
          <p:nvPr>
            <p:ph idx="1" type="body"/>
          </p:nvPr>
        </p:nvSpPr>
        <p:spPr>
          <a:xfrm>
            <a:off x="174813" y="1327530"/>
            <a:ext cx="11842377" cy="55304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300"/>
              <a:buNone/>
            </a:pPr>
            <a:r>
              <a:rPr lang="en-IN" sz="1800" b="1"/>
              <a:t xml:space="preserve">Product prototype: </a:t>
            </a:r>
            <a:r>
              <a:rPr lang="en-IN" sz="1800" b="0"/>
              <a:t>a working OptiProductio line and dashboard, released as open source (code, wiring table and build guide) so other labs can rebuild it.</a:t>
            </a:r>
          </a:p>
          <a:p>
            <a:pPr indent="0" lvl="0" marL="0" rtl="0" algn="just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2060"/>
              </a:buClr>
              <a:buSzPts val="2300"/>
              <a:buNone/>
            </a:pPr>
            <a:r>
              <a:rPr lang="en-IN" sz="1800" b="1"/>
              <a:t xml:space="preserve">Conference publication: </a:t>
            </a:r>
            <a:r>
              <a:rPr lang="en-IN" sz="1800" b="0"/>
              <a:t>a short paper in IEEE format on the prototype, the accuracy check and the WIP-limit experiments. Target venue to be chosen once results are in.</a:t>
            </a:r>
          </a:p>
          <a:p>
            <a:pPr indent="0" lvl="0" marL="0" rtl="0" algn="just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2060"/>
              </a:buClr>
              <a:buSzPts val="2300"/>
              <a:buNone/>
            </a:pPr>
            <a:r>
              <a:rPr lang="en-IN" sz="1800" b="1"/>
              <a:t xml:space="preserve">Research proposal: </a:t>
            </a:r>
            <a:r>
              <a:rPr lang="en-IN" sz="1800" b="0"/>
              <a:t>extend the work to more stations, wireless boards and more real factory data.</a:t>
            </a:r>
          </a:p>
          <a:p>
            <a:pPr indent="0" lvl="0" marL="0" rtl="0" algn="just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002060"/>
              </a:buClr>
              <a:buSzPts val="2300"/>
              <a:buNone/>
            </a:pPr>
            <a:r>
              <a:rPr lang="en-IN" sz="1800" b="1"/>
              <a:t xml:space="preserve">Patent: </a:t>
            </a:r>
            <a:r>
              <a:rPr lang="en-IN" sz="1800" b="0"/>
              <a:t>not planned. Software and algorithms on their own are generally not patentable in India (Patents Act, 1970, Section 3(k)) [13], so we will not claim one.</a:t>
            </a:r>
          </a:p>
        </p:txBody>
      </p:sp>
      <p:sp>
        <p:nvSpPr>
          <p:cNvPr id="221" name="Google Shape;221;p15"/>
          <p:cNvSpPr txBox="1"/>
          <p:nvPr>
            <p:ph idx="10" type="dt"/>
          </p:nvPr>
        </p:nvSpPr>
        <p:spPr>
          <a:xfrm>
            <a:off x="174812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Thursday, 29 October 2026</a:t>
            </a:r>
            <a:endParaRPr/>
          </a:p>
        </p:txBody>
      </p:sp>
      <p:sp>
        <p:nvSpPr>
          <p:cNvPr id="222" name="Google Shape;222;p15"/>
          <p:cNvSpPr txBox="1"/>
          <p:nvPr>
            <p:ph idx="12" type="sldNum"/>
          </p:nvPr>
        </p:nvSpPr>
        <p:spPr>
          <a:xfrm>
            <a:off x="9273988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23" name="Google Shape;223;p15"/>
          <p:cNvSpPr txBox="1"/>
          <p:nvPr/>
        </p:nvSpPr>
        <p:spPr>
          <a:xfrm>
            <a:off x="2235201" y="145670"/>
            <a:ext cx="8974666" cy="118186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dash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IN" sz="3600" u="none" cap="none" strike="noStrike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Expected Outcome by the End of First Year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6"/>
          <p:cNvSpPr txBox="1"/>
          <p:nvPr>
            <p:ph idx="12" type="sldNum"/>
          </p:nvPr>
        </p:nvSpPr>
        <p:spPr>
          <a:xfrm>
            <a:off x="9273988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29" name="Google Shape;22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51096" y="1605964"/>
            <a:ext cx="5889812" cy="3646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2021-06-02T13:10:21Z</dcterms:created>
  <dc:creator>Dr. Shanmukha</dc:creator>
</cp:coreProperties>
</file>