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761150" cy="9942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1" roundtripDataSignature="AMtx7mg4DaYRzzOcnbhcNrJAqZQvfx4X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29837" cy="49885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29761" y="0"/>
            <a:ext cx="2929837" cy="49885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43662"/>
            <a:ext cx="2929837" cy="498851"/>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29761" y="9443662"/>
            <a:ext cx="2929837" cy="498851"/>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p1: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3: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4: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5: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6: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7: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8: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9: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0: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11: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2: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3: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3: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3:notes"/>
          <p:cNvSpPr txBox="1"/>
          <p:nvPr>
            <p:ph idx="12" type="sldNum"/>
          </p:nvPr>
        </p:nvSpPr>
        <p:spPr>
          <a:xfrm>
            <a:off x="3829761" y="9443662"/>
            <a:ext cx="2929837" cy="49885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4: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14:notes"/>
          <p:cNvSpPr txBox="1"/>
          <p:nvPr>
            <p:ph idx="12" type="sldNum"/>
          </p:nvPr>
        </p:nvSpPr>
        <p:spPr>
          <a:xfrm>
            <a:off x="3829761" y="9443662"/>
            <a:ext cx="2929837" cy="49885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5: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5: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15:notes"/>
          <p:cNvSpPr txBox="1"/>
          <p:nvPr>
            <p:ph idx="12" type="sldNum"/>
          </p:nvPr>
        </p:nvSpPr>
        <p:spPr>
          <a:xfrm>
            <a:off x="3829761" y="9443662"/>
            <a:ext cx="2929837" cy="498851"/>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6:notes"/>
          <p:cNvSpPr txBox="1"/>
          <p:nvPr>
            <p:ph idx="1" type="body"/>
          </p:nvPr>
        </p:nvSpPr>
        <p:spPr>
          <a:xfrm>
            <a:off x="676117" y="4784835"/>
            <a:ext cx="5408930" cy="3914864"/>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16:notes"/>
          <p:cNvSpPr/>
          <p:nvPr>
            <p:ph idx="2" type="sldImg"/>
          </p:nvPr>
        </p:nvSpPr>
        <p:spPr>
          <a:xfrm>
            <a:off x="398463" y="1243013"/>
            <a:ext cx="5964237" cy="33559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8"/>
          <p:cNvSpPr txBox="1"/>
          <p:nvPr>
            <p:ph idx="1" type="body"/>
          </p:nvPr>
        </p:nvSpPr>
        <p:spPr>
          <a:xfrm>
            <a:off x="174813" y="1258282"/>
            <a:ext cx="11842377" cy="491868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indent="-381000" lvl="1" marL="9144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indent="-355600" lvl="2" marL="1371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indent="-342900" lvl="3" marL="18288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indent="-342900" lvl="4" marL="22860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18"/>
          <p:cNvSpPr txBox="1"/>
          <p:nvPr/>
        </p:nvSpPr>
        <p:spPr>
          <a:xfrm>
            <a:off x="5055596" y="6405140"/>
            <a:ext cx="2080806" cy="223220"/>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1400"/>
              <a:buFont typeface="Arial"/>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sp>
        <p:nvSpPr>
          <p:cNvPr id="18" name="Google Shape;18;p18"/>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002060"/>
                </a:solidFill>
                <a:latin typeface="Bookman Old Style"/>
                <a:ea typeface="Bookman Old Style"/>
                <a:cs typeface="Bookman Old Style"/>
                <a:sym typeface="Bookman Old Style"/>
              </a:defRPr>
            </a:lvl9pPr>
          </a:lstStyle>
          <a:p>
            <a:pPr indent="0" lvl="0" marL="0" rtl="0" algn="r">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b="0" l="0" r="0"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19"/>
          <p:cNvSpPr txBox="1"/>
          <p:nvPr>
            <p:ph type="ctrTitle"/>
          </p:nvPr>
        </p:nvSpPr>
        <p:spPr>
          <a:xfrm>
            <a:off x="1524000" y="1195310"/>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19"/>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2400"/>
              <a:buFont typeface="Arial"/>
              <a:buNone/>
            </a:pPr>
            <a:r>
              <a:rPr b="1" i="1" lang="en-IN" sz="2400" u="none" cap="none" strike="noStrike">
                <a:solidFill>
                  <a:srgbClr val="422C75"/>
                </a:solidFill>
                <a:latin typeface="Bookman Old Style"/>
                <a:ea typeface="Bookman Old Style"/>
                <a:cs typeface="Bookman Old Style"/>
                <a:sym typeface="Bookman Old Style"/>
              </a:rPr>
              <a:t>Go, change the world</a:t>
            </a:r>
            <a:endParaRPr b="1" i="0" sz="2400" u="none" cap="none" strike="noStrike">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b="0" l="0" r="0"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20"/>
          <p:cNvSpPr txBox="1"/>
          <p:nvPr>
            <p:ph idx="1" type="body"/>
          </p:nvPr>
        </p:nvSpPr>
        <p:spPr>
          <a:xfrm>
            <a:off x="268942" y="1258282"/>
            <a:ext cx="5750859" cy="491868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20"/>
          <p:cNvSpPr txBox="1"/>
          <p:nvPr>
            <p:ph idx="2" type="body"/>
          </p:nvPr>
        </p:nvSpPr>
        <p:spPr>
          <a:xfrm>
            <a:off x="6172202" y="1258280"/>
            <a:ext cx="5795682" cy="49186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0"/>
          <p:cNvSpPr txBox="1"/>
          <p:nvPr>
            <p:ph idx="10" type="dt"/>
          </p:nvPr>
        </p:nvSpPr>
        <p:spPr>
          <a:xfrm>
            <a:off x="26894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9224683"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1400"/>
                <a:buFont typeface="Arial"/>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b="0" l="0" r="0"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21"/>
          <p:cNvSpPr txBox="1"/>
          <p:nvPr>
            <p:ph type="title"/>
          </p:nvPr>
        </p:nvSpPr>
        <p:spPr>
          <a:xfrm>
            <a:off x="831852"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831852" y="4589464"/>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0" name="Google Shape;40;p21"/>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1"/>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1400"/>
                <a:buFont typeface="Arial"/>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4"/>
              </a:schemeClr>
            </a:solidFill>
            <a:ln cap="flat" cmpd="sng" w="76200">
              <a:solidFill>
                <a:srgbClr val="00589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92"/>
                <a:buFont typeface="Arial"/>
                <a:buNone/>
              </a:pPr>
              <a:r>
                <a:t/>
              </a:r>
              <a:endParaRPr b="0" i="0" sz="1092" u="none" cap="none" strike="noStrike">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rect b="b" l="l" r="r" t="t"/>
                <a:pathLst>
                  <a:path extrusionOk="0" h="5134610" w="7436484">
                    <a:moveTo>
                      <a:pt x="7435941" y="0"/>
                    </a:moveTo>
                    <a:lnTo>
                      <a:pt x="0" y="0"/>
                    </a:lnTo>
                    <a:lnTo>
                      <a:pt x="0" y="5134513"/>
                    </a:lnTo>
                    <a:lnTo>
                      <a:pt x="7435941" y="0"/>
                    </a:lnTo>
                    <a:close/>
                  </a:path>
                </a:pathLst>
              </a:custGeom>
              <a:solidFill>
                <a:srgbClr val="00589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grpSp>
      </p:grpSp>
      <p:sp>
        <p:nvSpPr>
          <p:cNvPr id="52" name="Google Shape;52;p22"/>
          <p:cNvSpPr txBox="1"/>
          <p:nvPr>
            <p:ph type="title"/>
          </p:nvPr>
        </p:nvSpPr>
        <p:spPr>
          <a:xfrm>
            <a:off x="839789"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2"/>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22"/>
          <p:cNvSpPr txBox="1"/>
          <p:nvPr>
            <p:ph idx="2" type="body"/>
          </p:nvPr>
        </p:nvSpPr>
        <p:spPr>
          <a:xfrm>
            <a:off x="839789" y="2505076"/>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2"/>
          <p:cNvSpPr txBox="1"/>
          <p:nvPr>
            <p:ph idx="3" type="body"/>
          </p:nvPr>
        </p:nvSpPr>
        <p:spPr>
          <a:xfrm>
            <a:off x="6172202"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22"/>
          <p:cNvSpPr txBox="1"/>
          <p:nvPr>
            <p:ph idx="4" type="body"/>
          </p:nvPr>
        </p:nvSpPr>
        <p:spPr>
          <a:xfrm>
            <a:off x="6172202" y="2505076"/>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22"/>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1400"/>
                <a:buFont typeface="Arial"/>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4"/>
            </a:schemeClr>
          </a:solidFill>
          <a:ln cap="flat" cmpd="sng" w="76200">
            <a:solidFill>
              <a:srgbClr val="00589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92"/>
              <a:buFont typeface="Arial"/>
              <a:buNone/>
            </a:pPr>
            <a:r>
              <a:t/>
            </a:r>
            <a:endParaRPr b="0" i="0" sz="1092" u="none" cap="none" strike="noStrike">
              <a:solidFill>
                <a:srgbClr val="FFFFFF"/>
              </a:solidFill>
              <a:latin typeface="Calibri"/>
              <a:ea typeface="Calibri"/>
              <a:cs typeface="Calibri"/>
              <a:sym typeface="Calibri"/>
            </a:endParaRPr>
          </a:p>
        </p:txBody>
      </p:sp>
      <p:sp>
        <p:nvSpPr>
          <p:cNvPr id="65" name="Google Shape;65;p23"/>
          <p:cNvSpPr txBox="1"/>
          <p:nvPr>
            <p:ph type="title"/>
          </p:nvPr>
        </p:nvSpPr>
        <p:spPr>
          <a:xfrm>
            <a:off x="838202"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3"/>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3"/>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3"/>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rect b="b" l="l" r="r" t="t"/>
              <a:pathLst>
                <a:path extrusionOk="0" h="5134610" w="7436484">
                  <a:moveTo>
                    <a:pt x="7435941" y="0"/>
                  </a:moveTo>
                  <a:lnTo>
                    <a:pt x="0" y="0"/>
                  </a:lnTo>
                  <a:lnTo>
                    <a:pt x="0" y="5134513"/>
                  </a:lnTo>
                  <a:lnTo>
                    <a:pt x="7435941" y="0"/>
                  </a:lnTo>
                  <a:close/>
                </a:path>
              </a:pathLst>
            </a:custGeom>
            <a:solidFill>
              <a:srgbClr val="00589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1400"/>
                <a:buFont typeface="Arial"/>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4"/>
            </a:schemeClr>
          </a:solidFill>
          <a:ln cap="flat" cmpd="sng" w="76200">
            <a:solidFill>
              <a:srgbClr val="00589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92"/>
              <a:buFont typeface="Arial"/>
              <a:buNone/>
            </a:pPr>
            <a:r>
              <a:t/>
            </a:r>
            <a:endParaRPr b="0" i="0" sz="1092" u="none" cap="none" strike="noStrike">
              <a:solidFill>
                <a:srgbClr val="FFFFFF"/>
              </a:solidFill>
              <a:latin typeface="Calibri"/>
              <a:ea typeface="Calibri"/>
              <a:cs typeface="Calibri"/>
              <a:sym typeface="Calibri"/>
            </a:endParaRPr>
          </a:p>
        </p:txBody>
      </p:sp>
      <p:sp>
        <p:nvSpPr>
          <p:cNvPr id="77" name="Google Shape;77;p24"/>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4"/>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4"/>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1400"/>
                <a:buFont typeface="Arial"/>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rect b="b" l="l" r="r" t="t"/>
              <a:pathLst>
                <a:path extrusionOk="0" h="5134610" w="7436484">
                  <a:moveTo>
                    <a:pt x="7435941" y="0"/>
                  </a:moveTo>
                  <a:lnTo>
                    <a:pt x="0" y="0"/>
                  </a:lnTo>
                  <a:lnTo>
                    <a:pt x="0" y="5134513"/>
                  </a:lnTo>
                  <a:lnTo>
                    <a:pt x="7435941" y="0"/>
                  </a:lnTo>
                  <a:close/>
                </a:path>
              </a:pathLst>
            </a:custGeom>
            <a:solidFill>
              <a:srgbClr val="00589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b="0" l="0" r="0" t="0"/>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7"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4"/>
              </a:schemeClr>
            </a:solidFill>
            <a:ln cap="flat" cmpd="sng" w="76200">
              <a:solidFill>
                <a:srgbClr val="00589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92"/>
                <a:buFont typeface="Arial"/>
                <a:buNone/>
              </a:pPr>
              <a:r>
                <a:t/>
              </a:r>
              <a:endParaRPr b="0" i="0" sz="1092" u="none" cap="none" strike="noStrike">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rect b="b" l="l" r="r" t="t"/>
                <a:pathLst>
                  <a:path extrusionOk="0" h="5134610" w="7436484">
                    <a:moveTo>
                      <a:pt x="7435941" y="0"/>
                    </a:moveTo>
                    <a:lnTo>
                      <a:pt x="0" y="0"/>
                    </a:lnTo>
                    <a:lnTo>
                      <a:pt x="0" y="5134513"/>
                    </a:lnTo>
                    <a:lnTo>
                      <a:pt x="7435941" y="0"/>
                    </a:lnTo>
                    <a:close/>
                  </a:path>
                </a:pathLst>
              </a:custGeom>
              <a:solidFill>
                <a:srgbClr val="00589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92"/>
                  <a:buFont typeface="Arial"/>
                  <a:buNone/>
                </a:pPr>
                <a:r>
                  <a:t/>
                </a:r>
                <a:endParaRPr b="0" i="0" sz="1092" u="none" cap="none" strike="noStrike">
                  <a:solidFill>
                    <a:schemeClr val="dk1"/>
                  </a:solidFill>
                  <a:latin typeface="Calibri"/>
                  <a:ea typeface="Calibri"/>
                  <a:cs typeface="Calibri"/>
                  <a:sym typeface="Calibri"/>
                </a:endParaRPr>
              </a:p>
            </p:txBody>
          </p:sp>
        </p:grpSp>
      </p:grpSp>
      <p:sp>
        <p:nvSpPr>
          <p:cNvPr id="93" name="Google Shape;93;p25"/>
          <p:cNvSpPr txBox="1"/>
          <p:nvPr>
            <p:ph type="title"/>
          </p:nvPr>
        </p:nvSpPr>
        <p:spPr>
          <a:xfrm>
            <a:off x="839790" y="457200"/>
            <a:ext cx="3932236"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5"/>
          <p:cNvSpPr txBox="1"/>
          <p:nvPr>
            <p:ph idx="1" type="body"/>
          </p:nvPr>
        </p:nvSpPr>
        <p:spPr>
          <a:xfrm>
            <a:off x="5183188" y="987425"/>
            <a:ext cx="6172201"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95" name="Google Shape;95;p25"/>
          <p:cNvSpPr txBox="1"/>
          <p:nvPr>
            <p:ph idx="2" type="body"/>
          </p:nvPr>
        </p:nvSpPr>
        <p:spPr>
          <a:xfrm>
            <a:off x="839790" y="2057400"/>
            <a:ext cx="3932236"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6" name="Google Shape;96;p25"/>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5"/>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5"/>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fmla="val 16667" name="adj"/>
              </a:avLst>
            </a:prstGeom>
            <a:solidFill>
              <a:schemeClr val="lt1"/>
            </a:solidFill>
            <a:ln cap="flat" cmpd="sng" w="19050">
              <a:solidFill>
                <a:srgbClr val="00206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anchorCtr="0" anchor="t" bIns="0" lIns="0" spcFirstLastPara="1" rIns="0" wrap="square" tIns="7700">
              <a:spAutoFit/>
            </a:bodyPr>
            <a:lstStyle/>
            <a:p>
              <a:pPr indent="0" lvl="0" marL="7701" marR="0" rtl="0" algn="ctr">
                <a:lnSpc>
                  <a:spcPct val="100000"/>
                </a:lnSpc>
                <a:spcBef>
                  <a:spcPts val="0"/>
                </a:spcBef>
                <a:spcAft>
                  <a:spcPts val="0"/>
                </a:spcAft>
                <a:buClr>
                  <a:srgbClr val="000000"/>
                </a:buClr>
                <a:buSzPts val="1400"/>
                <a:buFont typeface="Arial"/>
                <a:buNone/>
              </a:pPr>
              <a:r>
                <a:rPr b="1" i="1" lang="en-IN" sz="1400" u="none" cap="none" strike="noStrike">
                  <a:solidFill>
                    <a:srgbClr val="422C75"/>
                  </a:solidFill>
                  <a:latin typeface="Bookman Old Style"/>
                  <a:ea typeface="Bookman Old Style"/>
                  <a:cs typeface="Bookman Old Style"/>
                  <a:sym typeface="Bookman Old Style"/>
                </a:rPr>
                <a:t>Go, change the world</a:t>
              </a:r>
              <a:endParaRPr b="1" i="0" sz="1400" u="none" cap="none" strike="noStrike">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2" name="Shape 102"/>
        <p:cNvGrpSpPr/>
        <p:nvPr/>
      </p:nvGrpSpPr>
      <p:grpSpPr>
        <a:xfrm>
          <a:off x="0" y="0"/>
          <a:ext cx="0" cy="0"/>
          <a:chOff x="0" y="0"/>
          <a:chExt cx="0" cy="0"/>
        </a:xfrm>
      </p:grpSpPr>
      <p:sp>
        <p:nvSpPr>
          <p:cNvPr id="103" name="Google Shape;103;p26"/>
          <p:cNvSpPr txBox="1"/>
          <p:nvPr>
            <p:ph type="title"/>
          </p:nvPr>
        </p:nvSpPr>
        <p:spPr>
          <a:xfrm>
            <a:off x="839790" y="457200"/>
            <a:ext cx="3932236"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6"/>
          <p:cNvSpPr/>
          <p:nvPr>
            <p:ph idx="2" type="pic"/>
          </p:nvPr>
        </p:nvSpPr>
        <p:spPr>
          <a:xfrm>
            <a:off x="5183188" y="987425"/>
            <a:ext cx="6172201" cy="4873625"/>
          </a:xfrm>
          <a:prstGeom prst="rect">
            <a:avLst/>
          </a:prstGeom>
          <a:noFill/>
          <a:ln>
            <a:noFill/>
          </a:ln>
        </p:spPr>
      </p:sp>
      <p:sp>
        <p:nvSpPr>
          <p:cNvPr id="105" name="Google Shape;105;p26"/>
          <p:cNvSpPr txBox="1"/>
          <p:nvPr>
            <p:ph idx="1" type="body"/>
          </p:nvPr>
        </p:nvSpPr>
        <p:spPr>
          <a:xfrm>
            <a:off x="839790" y="2057400"/>
            <a:ext cx="3932236"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6" name="Google Shape;106;p26"/>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26"/>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26"/>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9" name="Shape 109"/>
        <p:cNvGrpSpPr/>
        <p:nvPr/>
      </p:nvGrpSpPr>
      <p:grpSpPr>
        <a:xfrm>
          <a:off x="0" y="0"/>
          <a:ext cx="0" cy="0"/>
          <a:chOff x="0" y="0"/>
          <a:chExt cx="0" cy="0"/>
        </a:xfrm>
      </p:grpSpPr>
      <p:sp>
        <p:nvSpPr>
          <p:cNvPr id="110" name="Google Shape;110;p27"/>
          <p:cNvSpPr txBox="1"/>
          <p:nvPr>
            <p:ph type="title"/>
          </p:nvPr>
        </p:nvSpPr>
        <p:spPr>
          <a:xfrm>
            <a:off x="838202"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7"/>
          <p:cNvSpPr txBox="1"/>
          <p:nvPr>
            <p:ph idx="1" type="body"/>
          </p:nvPr>
        </p:nvSpPr>
        <p:spPr>
          <a:xfrm rot="5400000">
            <a:off x="3920333"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27"/>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27"/>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27"/>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5" name="Shape 115"/>
        <p:cNvGrpSpPr/>
        <p:nvPr/>
      </p:nvGrpSpPr>
      <p:grpSpPr>
        <a:xfrm>
          <a:off x="0" y="0"/>
          <a:ext cx="0" cy="0"/>
          <a:chOff x="0" y="0"/>
          <a:chExt cx="0" cy="0"/>
        </a:xfrm>
      </p:grpSpPr>
      <p:sp>
        <p:nvSpPr>
          <p:cNvPr id="116" name="Google Shape;116;p28"/>
          <p:cNvSpPr txBox="1"/>
          <p:nvPr>
            <p:ph type="title"/>
          </p:nvPr>
        </p:nvSpPr>
        <p:spPr>
          <a:xfrm rot="5400000">
            <a:off x="7133430"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8"/>
          <p:cNvSpPr txBox="1"/>
          <p:nvPr>
            <p:ph idx="1" type="body"/>
          </p:nvPr>
        </p:nvSpPr>
        <p:spPr>
          <a:xfrm rot="5400000">
            <a:off x="1799430"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28"/>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28"/>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28"/>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2"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838202"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descr="A building with a roof&#10;&#10;Description automatically generated" id="126" name="Google Shape;126;p1"/>
          <p:cNvPicPr preferRelativeResize="0"/>
          <p:nvPr>
            <p:ph idx="1" type="body"/>
          </p:nvPr>
        </p:nvPicPr>
        <p:blipFill rotWithShape="1">
          <a:blip r:embed="rId3">
            <a:alphaModFix/>
          </a:blip>
          <a:srcRect b="0" l="0" r="0" t="0"/>
          <a:stretch/>
        </p:blipFill>
        <p:spPr>
          <a:xfrm>
            <a:off x="421879" y="1067010"/>
            <a:ext cx="11421075" cy="3894085"/>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127" name="Google Shape;127;p1"/>
          <p:cNvSpPr/>
          <p:nvPr/>
        </p:nvSpPr>
        <p:spPr>
          <a:xfrm>
            <a:off x="349046" y="4146929"/>
            <a:ext cx="11493908" cy="1004814"/>
          </a:xfrm>
          <a:prstGeom prst="roundRect">
            <a:avLst>
              <a:gd fmla="val 16667" name="adj"/>
            </a:avLst>
          </a:prstGeom>
          <a:solidFill>
            <a:srgbClr val="002060"/>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lang="en-IN" sz="3600">
                <a:solidFill>
                  <a:srgbClr val="FF0000"/>
                </a:solidFill>
                <a:latin typeface="Bookman Old Style"/>
                <a:ea typeface="Bookman Old Style"/>
                <a:cs typeface="Bookman Old Style"/>
                <a:sym typeface="Bookman Old Style"/>
              </a:rPr>
              <a:t>THE MEDMINDS</a:t>
            </a:r>
            <a:endParaRPr b="0" i="0" sz="1400" u="none" cap="none" strike="noStrike">
              <a:solidFill>
                <a:srgbClr val="000000"/>
              </a:solidFill>
              <a:latin typeface="Arial"/>
              <a:ea typeface="Arial"/>
              <a:cs typeface="Arial"/>
              <a:sym typeface="Arial"/>
            </a:endParaRPr>
          </a:p>
        </p:txBody>
      </p:sp>
      <p:sp>
        <p:nvSpPr>
          <p:cNvPr id="128" name="Google Shape;128;p1"/>
          <p:cNvSpPr/>
          <p:nvPr/>
        </p:nvSpPr>
        <p:spPr>
          <a:xfrm>
            <a:off x="349045" y="5288583"/>
            <a:ext cx="11421075" cy="1004814"/>
          </a:xfrm>
          <a:prstGeom prst="roundRect">
            <a:avLst>
              <a:gd fmla="val 16667" name="adj"/>
            </a:avLst>
          </a:prstGeom>
          <a:solidFill>
            <a:srgbClr val="002060"/>
          </a:solidFill>
          <a:ln cap="flat" cmpd="sng" w="12700">
            <a:solidFill>
              <a:srgbClr val="42719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lang="en-IN" sz="3600">
                <a:solidFill>
                  <a:srgbClr val="FF0000"/>
                </a:solidFill>
                <a:latin typeface="Bookman Old Style"/>
                <a:ea typeface="Bookman Old Style"/>
                <a:cs typeface="Bookman Old Style"/>
                <a:sym typeface="Bookman Old Style"/>
              </a:rPr>
              <a:t>BIOMEDICAL AND HEALTHCARE</a:t>
            </a:r>
            <a:endParaRPr b="0" i="0" sz="1400" u="none" cap="none" strike="noStrike">
              <a:solidFill>
                <a:srgbClr val="FF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34" name="Google Shape;134;p3"/>
          <p:cNvSpPr txBox="1"/>
          <p:nvPr>
            <p:ph idx="1" type="body"/>
          </p:nvPr>
        </p:nvSpPr>
        <p:spPr>
          <a:xfrm>
            <a:off x="174813" y="1258282"/>
            <a:ext cx="11842377" cy="4918680"/>
          </a:xfrm>
          <a:prstGeom prst="rect">
            <a:avLst/>
          </a:prstGeom>
          <a:noFill/>
          <a:ln>
            <a:noFill/>
          </a:ln>
        </p:spPr>
        <p:txBody>
          <a:bodyPr anchorCtr="0" anchor="t" bIns="45700" lIns="91425" spcFirstLastPara="1" rIns="91425" wrap="square" tIns="45700">
            <a:normAutofit/>
          </a:bodyPr>
          <a:lstStyle/>
          <a:p>
            <a:pPr indent="-406400" lvl="0" marL="457200" rtl="0" algn="l">
              <a:lnSpc>
                <a:spcPct val="90000"/>
              </a:lnSpc>
              <a:spcBef>
                <a:spcPts val="1000"/>
              </a:spcBef>
              <a:spcAft>
                <a:spcPts val="0"/>
              </a:spcAft>
              <a:buClr>
                <a:srgbClr val="002060"/>
              </a:buClr>
              <a:buSzPts val="2800"/>
              <a:buChar char="•"/>
            </a:pPr>
            <a:r>
              <a:rPr lang="en-IN"/>
              <a:t>Experiential Learning – outline of tentative steps / methodology adopted (or to be adopted)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40" name="Google Shape;140;p4"/>
          <p:cNvSpPr txBox="1"/>
          <p:nvPr/>
        </p:nvSpPr>
        <p:spPr>
          <a:xfrm>
            <a:off x="2339498" y="178833"/>
            <a:ext cx="8551282" cy="63869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3200"/>
              <a:buFont typeface="Calibri"/>
              <a:buNone/>
            </a:pPr>
            <a:r>
              <a:t/>
            </a:r>
            <a:endParaRPr b="1" i="0" sz="3200" u="none" cap="none" strike="noStrike">
              <a:solidFill>
                <a:srgbClr val="C00000"/>
              </a:solidFill>
              <a:latin typeface="Calibri"/>
              <a:ea typeface="Calibri"/>
              <a:cs typeface="Calibri"/>
              <a:sym typeface="Calibri"/>
            </a:endParaRPr>
          </a:p>
        </p:txBody>
      </p:sp>
      <p:sp>
        <p:nvSpPr>
          <p:cNvPr id="141" name="Google Shape;141;p4"/>
          <p:cNvSpPr txBox="1"/>
          <p:nvPr/>
        </p:nvSpPr>
        <p:spPr>
          <a:xfrm>
            <a:off x="2182762" y="89747"/>
            <a:ext cx="8151863" cy="1319953"/>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EL Phase-I</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Presentation Outline</a:t>
            </a:r>
            <a:endParaRPr b="0" i="0" sz="1400" u="none" cap="none" strike="noStrike">
              <a:solidFill>
                <a:srgbClr val="000000"/>
              </a:solidFill>
              <a:latin typeface="Arial"/>
              <a:ea typeface="Arial"/>
              <a:cs typeface="Arial"/>
              <a:sym typeface="Arial"/>
            </a:endParaRPr>
          </a:p>
        </p:txBody>
      </p:sp>
      <p:sp>
        <p:nvSpPr>
          <p:cNvPr id="142" name="Google Shape;142;p4"/>
          <p:cNvSpPr txBox="1"/>
          <p:nvPr>
            <p:ph idx="1" type="body"/>
          </p:nvPr>
        </p:nvSpPr>
        <p:spPr>
          <a:xfrm>
            <a:off x="575733" y="1666874"/>
            <a:ext cx="11441457" cy="4510087"/>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rgbClr val="000000"/>
              </a:buClr>
              <a:buSzPts val="2800"/>
              <a:buChar char="•"/>
            </a:pPr>
            <a:r>
              <a:rPr lang="en-IN">
                <a:solidFill>
                  <a:srgbClr val="000000"/>
                </a:solidFill>
              </a:rPr>
              <a:t>Introduction</a:t>
            </a:r>
            <a:endParaRPr>
              <a:solidFill>
                <a:srgbClr val="000000"/>
              </a:solidFill>
            </a:endParaRPr>
          </a:p>
          <a:p>
            <a:pPr indent="-228600" lvl="0" marL="228600" rtl="0" algn="l">
              <a:lnSpc>
                <a:spcPct val="90000"/>
              </a:lnSpc>
              <a:spcBef>
                <a:spcPts val="1000"/>
              </a:spcBef>
              <a:spcAft>
                <a:spcPts val="0"/>
              </a:spcAft>
              <a:buClr>
                <a:srgbClr val="000000"/>
              </a:buClr>
              <a:buSzPts val="2800"/>
              <a:buChar char="•"/>
            </a:pPr>
            <a:r>
              <a:rPr lang="en-IN">
                <a:solidFill>
                  <a:srgbClr val="000000"/>
                </a:solidFill>
              </a:rPr>
              <a:t>Literature Review</a:t>
            </a:r>
            <a:endParaRPr>
              <a:solidFill>
                <a:srgbClr val="000000"/>
              </a:solidFill>
            </a:endParaRPr>
          </a:p>
          <a:p>
            <a:pPr indent="-228600" lvl="0" marL="228600" rtl="0" algn="l">
              <a:lnSpc>
                <a:spcPct val="90000"/>
              </a:lnSpc>
              <a:spcBef>
                <a:spcPts val="1000"/>
              </a:spcBef>
              <a:spcAft>
                <a:spcPts val="0"/>
              </a:spcAft>
              <a:buClr>
                <a:srgbClr val="000000"/>
              </a:buClr>
              <a:buSzPts val="2800"/>
              <a:buChar char="•"/>
            </a:pPr>
            <a:r>
              <a:rPr lang="en-IN">
                <a:solidFill>
                  <a:srgbClr val="000000"/>
                </a:solidFill>
              </a:rPr>
              <a:t>Problem Definition</a:t>
            </a:r>
            <a:endParaRPr>
              <a:solidFill>
                <a:srgbClr val="000000"/>
              </a:solidFill>
            </a:endParaRPr>
          </a:p>
          <a:p>
            <a:pPr indent="-228600" lvl="0" marL="228600" rtl="0" algn="l">
              <a:lnSpc>
                <a:spcPct val="90000"/>
              </a:lnSpc>
              <a:spcBef>
                <a:spcPts val="1000"/>
              </a:spcBef>
              <a:spcAft>
                <a:spcPts val="0"/>
              </a:spcAft>
              <a:buClr>
                <a:srgbClr val="000000"/>
              </a:buClr>
              <a:buSzPts val="2800"/>
              <a:buChar char="•"/>
            </a:pPr>
            <a:r>
              <a:rPr lang="en-IN">
                <a:solidFill>
                  <a:srgbClr val="000000"/>
                </a:solidFill>
              </a:rPr>
              <a:t>Objectives</a:t>
            </a:r>
            <a:endParaRPr>
              <a:solidFill>
                <a:srgbClr val="000000"/>
              </a:solidFill>
            </a:endParaRPr>
          </a:p>
          <a:p>
            <a:pPr indent="-228600" lvl="0" marL="228600" rtl="0" algn="l">
              <a:lnSpc>
                <a:spcPct val="90000"/>
              </a:lnSpc>
              <a:spcBef>
                <a:spcPts val="1000"/>
              </a:spcBef>
              <a:spcAft>
                <a:spcPts val="0"/>
              </a:spcAft>
              <a:buClr>
                <a:srgbClr val="000000"/>
              </a:buClr>
              <a:buSzPts val="2800"/>
              <a:buChar char="•"/>
            </a:pPr>
            <a:r>
              <a:rPr lang="en-IN">
                <a:solidFill>
                  <a:srgbClr val="000000"/>
                </a:solidFill>
              </a:rPr>
              <a:t>Methodology</a:t>
            </a:r>
            <a:endParaRPr>
              <a:solidFill>
                <a:srgbClr val="000000"/>
              </a:solidFill>
            </a:endParaRPr>
          </a:p>
          <a:p>
            <a:pPr indent="-228600" lvl="0" marL="228600" rtl="0" algn="l">
              <a:lnSpc>
                <a:spcPct val="90000"/>
              </a:lnSpc>
              <a:spcBef>
                <a:spcPts val="1000"/>
              </a:spcBef>
              <a:spcAft>
                <a:spcPts val="0"/>
              </a:spcAft>
              <a:buClr>
                <a:srgbClr val="000000"/>
              </a:buClr>
              <a:buSzPts val="2800"/>
              <a:buChar char="•"/>
            </a:pPr>
            <a:r>
              <a:rPr lang="en-IN">
                <a:solidFill>
                  <a:srgbClr val="000000"/>
                </a:solidFill>
              </a:rPr>
              <a:t>Proposed Outcomes</a:t>
            </a:r>
            <a:endParaRPr>
              <a:solidFill>
                <a:srgbClr val="000000"/>
              </a:solidFill>
            </a:endParaRPr>
          </a:p>
          <a:p>
            <a:pPr indent="-228600" lvl="0" marL="228600" rtl="0" algn="l">
              <a:lnSpc>
                <a:spcPct val="90000"/>
              </a:lnSpc>
              <a:spcBef>
                <a:spcPts val="1000"/>
              </a:spcBef>
              <a:spcAft>
                <a:spcPts val="0"/>
              </a:spcAft>
              <a:buClr>
                <a:srgbClr val="000000"/>
              </a:buClr>
              <a:buSzPts val="2800"/>
              <a:buChar char="•"/>
            </a:pPr>
            <a:r>
              <a:rPr lang="en-IN">
                <a:solidFill>
                  <a:srgbClr val="000000"/>
                </a:solidFill>
              </a:rPr>
              <a:t>Timeline of the project</a:t>
            </a:r>
            <a:endParaRPr>
              <a:solidFill>
                <a:srgbClr val="000000"/>
              </a:solidFill>
            </a:endParaRPr>
          </a:p>
          <a:p>
            <a:pPr indent="-228600" lvl="0" marL="228600" rtl="0" algn="l">
              <a:lnSpc>
                <a:spcPct val="90000"/>
              </a:lnSpc>
              <a:spcBef>
                <a:spcPts val="1000"/>
              </a:spcBef>
              <a:spcAft>
                <a:spcPts val="0"/>
              </a:spcAft>
              <a:buClr>
                <a:srgbClr val="000000"/>
              </a:buClr>
              <a:buSzPts val="2800"/>
              <a:buChar char="•"/>
            </a:pPr>
            <a:r>
              <a:rPr lang="en-IN">
                <a:solidFill>
                  <a:srgbClr val="000000"/>
                </a:solidFill>
              </a:rPr>
              <a:t>Conclusion</a:t>
            </a:r>
            <a:endParaRPr>
              <a:solidFill>
                <a:srgbClr val="000000"/>
              </a:solidFill>
            </a:endParaRPr>
          </a:p>
          <a:p>
            <a:pPr indent="-228600" lvl="0" marL="228600" rtl="0" algn="l">
              <a:lnSpc>
                <a:spcPct val="90000"/>
              </a:lnSpc>
              <a:spcBef>
                <a:spcPts val="1000"/>
              </a:spcBef>
              <a:spcAft>
                <a:spcPts val="0"/>
              </a:spcAft>
              <a:buClr>
                <a:srgbClr val="000000"/>
              </a:buClr>
              <a:buSzPts val="2800"/>
              <a:buChar char="•"/>
            </a:pPr>
            <a:r>
              <a:rPr lang="en-IN">
                <a:solidFill>
                  <a:srgbClr val="000000"/>
                </a:solidFill>
              </a:rPr>
              <a:t>References</a:t>
            </a:r>
            <a:endParaRPr>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5"/>
          <p:cNvSpPr txBox="1"/>
          <p:nvPr>
            <p:ph idx="1" type="body"/>
          </p:nvPr>
        </p:nvSpPr>
        <p:spPr>
          <a:xfrm>
            <a:off x="174813" y="1258282"/>
            <a:ext cx="11842377" cy="491868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b="1" lang="en-IN"/>
              <a:t>OVERVIEW OF THE TOPIC :</a:t>
            </a:r>
            <a:endParaRPr b="1"/>
          </a:p>
          <a:p>
            <a:pPr indent="0" lvl="0" marL="0" rtl="0" algn="l">
              <a:lnSpc>
                <a:spcPct val="90000"/>
              </a:lnSpc>
              <a:spcBef>
                <a:spcPts val="0"/>
              </a:spcBef>
              <a:spcAft>
                <a:spcPts val="0"/>
              </a:spcAft>
              <a:buNone/>
            </a:pPr>
            <a:r>
              <a:t/>
            </a:r>
            <a:endParaRPr b="1" sz="2400"/>
          </a:p>
          <a:p>
            <a:pPr indent="-381000" lvl="0" marL="457200" rtl="0" algn="l">
              <a:lnSpc>
                <a:spcPct val="90000"/>
              </a:lnSpc>
              <a:spcBef>
                <a:spcPts val="0"/>
              </a:spcBef>
              <a:spcAft>
                <a:spcPts val="0"/>
              </a:spcAft>
              <a:buSzPts val="2400"/>
              <a:buChar char="•"/>
            </a:pPr>
            <a:r>
              <a:rPr b="1" lang="en-IN" sz="2400" u="sng">
                <a:solidFill>
                  <a:srgbClr val="005893"/>
                </a:solidFill>
              </a:rPr>
              <a:t>ClearShot</a:t>
            </a:r>
            <a:r>
              <a:rPr b="1" lang="en-IN" sz="2400"/>
              <a:t>: A smart retake advisor for chest X-Rays that checks whether an uploaded X-Ray image is technically acceptable or not.</a:t>
            </a:r>
            <a:endParaRPr b="1" sz="2400"/>
          </a:p>
          <a:p>
            <a:pPr indent="-381000" lvl="0" marL="457200" rtl="0" algn="l">
              <a:lnSpc>
                <a:spcPct val="90000"/>
              </a:lnSpc>
              <a:spcBef>
                <a:spcPts val="0"/>
              </a:spcBef>
              <a:spcAft>
                <a:spcPts val="0"/>
              </a:spcAft>
              <a:buSzPts val="2400"/>
              <a:buChar char="•"/>
            </a:pPr>
            <a:r>
              <a:rPr b="1" lang="en-IN" sz="2400" u="sng">
                <a:solidFill>
                  <a:srgbClr val="005893"/>
                </a:solidFill>
              </a:rPr>
              <a:t>Issues that it detects</a:t>
            </a:r>
            <a:r>
              <a:rPr b="1" lang="en-IN" sz="2400"/>
              <a:t>: Poor exposure, Blur, Noise, Rotation, Incorrect centering, Collimation errors, and cut-off anatomy.</a:t>
            </a:r>
            <a:endParaRPr b="1" sz="2400"/>
          </a:p>
          <a:p>
            <a:pPr indent="-381000" lvl="0" marL="457200" rtl="0" algn="l">
              <a:lnSpc>
                <a:spcPct val="90000"/>
              </a:lnSpc>
              <a:spcBef>
                <a:spcPts val="0"/>
              </a:spcBef>
              <a:spcAft>
                <a:spcPts val="0"/>
              </a:spcAft>
              <a:buSzPts val="2400"/>
              <a:buChar char="•"/>
            </a:pPr>
            <a:r>
              <a:rPr b="1" lang="en-IN" sz="2400"/>
              <a:t>Based on the above checks , ClearShot recommends whether the image should be accepted, accepted with comment, or retaken.</a:t>
            </a:r>
            <a:endParaRPr b="1" sz="2400"/>
          </a:p>
          <a:p>
            <a:pPr indent="-381000" lvl="0" marL="457200" rtl="0" algn="l">
              <a:lnSpc>
                <a:spcPct val="90000"/>
              </a:lnSpc>
              <a:spcBef>
                <a:spcPts val="0"/>
              </a:spcBef>
              <a:spcAft>
                <a:spcPts val="0"/>
              </a:spcAft>
              <a:buSzPts val="2400"/>
              <a:buChar char="•"/>
            </a:pPr>
            <a:r>
              <a:t/>
            </a:r>
            <a:endParaRPr b="1" sz="2400"/>
          </a:p>
        </p:txBody>
      </p:sp>
      <p:sp>
        <p:nvSpPr>
          <p:cNvPr id="148" name="Google Shape;148;p5"/>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r>
              <a:rPr lang="en-IN"/>
              <a:t>Slide No. </a:t>
            </a:r>
            <a:fld id="{00000000-1234-1234-1234-123412341234}" type="slidenum">
              <a:rPr lang="en-IN"/>
              <a:t>‹#›</a:t>
            </a:fld>
            <a:endParaRPr/>
          </a:p>
        </p:txBody>
      </p:sp>
      <p:sp>
        <p:nvSpPr>
          <p:cNvPr id="149" name="Google Shape;149;p5"/>
          <p:cNvSpPr txBox="1"/>
          <p:nvPr/>
        </p:nvSpPr>
        <p:spPr>
          <a:xfrm>
            <a:off x="1386895" y="145670"/>
            <a:ext cx="9834426" cy="839401"/>
          </a:xfrm>
          <a:prstGeom prst="rect">
            <a:avLst/>
          </a:prstGeom>
          <a:no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lang="en-IN" sz="4000">
                <a:solidFill>
                  <a:srgbClr val="C00000"/>
                </a:solidFill>
                <a:latin typeface="Bookman Old Style"/>
                <a:ea typeface="Bookman Old Style"/>
                <a:cs typeface="Bookman Old Style"/>
                <a:sym typeface="Bookman Old Style"/>
              </a:rPr>
              <a:t>INTRODUCTION</a:t>
            </a:r>
            <a:endParaRPr b="1" i="0" sz="4000" cap="none" strike="noStrike">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ph idx="1" type="body"/>
          </p:nvPr>
        </p:nvSpPr>
        <p:spPr>
          <a:xfrm>
            <a:off x="174813" y="1490132"/>
            <a:ext cx="11842377" cy="522219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Char char="•"/>
            </a:pPr>
            <a:r>
              <a:rPr b="1" lang="en-IN"/>
              <a:t>Key studies and Findings: </a:t>
            </a:r>
            <a:r>
              <a:rPr lang="en-IN"/>
              <a:t>Summarize 4 to 5 significant studies (journals) related to your topic. Read through the publications’ abstracts and summarize the contributions in the paper.</a:t>
            </a:r>
            <a:endParaRPr b="1"/>
          </a:p>
          <a:p>
            <a:pPr indent="-228600" lvl="0" marL="228600" rtl="0" algn="l">
              <a:lnSpc>
                <a:spcPct val="90000"/>
              </a:lnSpc>
              <a:spcBef>
                <a:spcPts val="1000"/>
              </a:spcBef>
              <a:spcAft>
                <a:spcPts val="0"/>
              </a:spcAft>
              <a:buClr>
                <a:srgbClr val="002060"/>
              </a:buClr>
              <a:buSzPts val="2800"/>
              <a:buChar char="•"/>
            </a:pPr>
            <a:r>
              <a:rPr b="1" lang="en-IN"/>
              <a:t>Trends in Literature: </a:t>
            </a:r>
            <a:r>
              <a:rPr lang="en-IN"/>
              <a:t>Highlight current trends in that particular domain by referring to different papers</a:t>
            </a:r>
            <a:endParaRPr/>
          </a:p>
          <a:p>
            <a:pPr indent="-228600" lvl="0" marL="228600" rtl="0" algn="l">
              <a:lnSpc>
                <a:spcPct val="90000"/>
              </a:lnSpc>
              <a:spcBef>
                <a:spcPts val="1000"/>
              </a:spcBef>
              <a:spcAft>
                <a:spcPts val="0"/>
              </a:spcAft>
              <a:buClr>
                <a:srgbClr val="002060"/>
              </a:buClr>
              <a:buSzPts val="2800"/>
              <a:buChar char="•"/>
            </a:pPr>
            <a:r>
              <a:rPr b="1" lang="en-IN"/>
              <a:t>Theoretical Framework: </a:t>
            </a:r>
            <a:r>
              <a:rPr lang="en-IN"/>
              <a:t>Briefly define your theoretical framework and its relevance to your topic.</a:t>
            </a:r>
            <a:endParaRPr b="1"/>
          </a:p>
          <a:p>
            <a:pPr indent="-228600" lvl="0" marL="228600" rtl="0" algn="l">
              <a:lnSpc>
                <a:spcPct val="90000"/>
              </a:lnSpc>
              <a:spcBef>
                <a:spcPts val="1000"/>
              </a:spcBef>
              <a:spcAft>
                <a:spcPts val="0"/>
              </a:spcAft>
              <a:buClr>
                <a:srgbClr val="002060"/>
              </a:buClr>
              <a:buSzPts val="2800"/>
              <a:buChar char="•"/>
            </a:pPr>
            <a:r>
              <a:rPr b="1" lang="en-IN"/>
              <a:t>Relevance to current research: </a:t>
            </a:r>
            <a:r>
              <a:rPr lang="en-IN"/>
              <a:t>Explain how these studies relate to your project and support your project problem.</a:t>
            </a:r>
            <a:endParaRPr/>
          </a:p>
        </p:txBody>
      </p:sp>
      <p:sp>
        <p:nvSpPr>
          <p:cNvPr id="155" name="Google Shape;155;p6"/>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56" name="Google Shape;156;p6"/>
          <p:cNvSpPr txBox="1"/>
          <p:nvPr/>
        </p:nvSpPr>
        <p:spPr>
          <a:xfrm>
            <a:off x="1710268" y="89747"/>
            <a:ext cx="9939866" cy="943186"/>
          </a:xfrm>
          <a:prstGeom prst="rect">
            <a:avLst/>
          </a:prstGeom>
          <a:no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Literature Review</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idx="1" type="body"/>
          </p:nvPr>
        </p:nvSpPr>
        <p:spPr>
          <a:xfrm>
            <a:off x="174813" y="1076325"/>
            <a:ext cx="11842377" cy="563600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Char char="•"/>
            </a:pPr>
            <a:r>
              <a:rPr b="1" lang="en-IN"/>
              <a:t>Clear statement of the problem: </a:t>
            </a:r>
            <a:r>
              <a:rPr lang="en-IN"/>
              <a:t>Define the problem you are addressing with clarity.</a:t>
            </a:r>
            <a:endParaRPr/>
          </a:p>
          <a:p>
            <a:pPr indent="-228600" lvl="0" marL="228600" rtl="0" algn="l">
              <a:lnSpc>
                <a:spcPct val="90000"/>
              </a:lnSpc>
              <a:spcBef>
                <a:spcPts val="1000"/>
              </a:spcBef>
              <a:spcAft>
                <a:spcPts val="0"/>
              </a:spcAft>
              <a:buClr>
                <a:srgbClr val="002060"/>
              </a:buClr>
              <a:buSzPts val="2800"/>
              <a:buChar char="•"/>
            </a:pPr>
            <a:r>
              <a:rPr b="1" lang="en-IN"/>
              <a:t>Context of the Problem: </a:t>
            </a:r>
            <a:r>
              <a:rPr lang="en-IN"/>
              <a:t>Provide background information that helps to understand the significance of the problem.</a:t>
            </a:r>
            <a:endParaRPr/>
          </a:p>
          <a:p>
            <a:pPr indent="-228600" lvl="0" marL="228600" rtl="0" algn="l">
              <a:lnSpc>
                <a:spcPct val="90000"/>
              </a:lnSpc>
              <a:spcBef>
                <a:spcPts val="1000"/>
              </a:spcBef>
              <a:spcAft>
                <a:spcPts val="0"/>
              </a:spcAft>
              <a:buClr>
                <a:srgbClr val="002060"/>
              </a:buClr>
              <a:buSzPts val="2800"/>
              <a:buChar char="•"/>
            </a:pPr>
            <a:r>
              <a:rPr b="1" lang="en-IN"/>
              <a:t>Significance of Addressing the Problem:</a:t>
            </a:r>
            <a:r>
              <a:rPr lang="en-IN"/>
              <a:t> Explain the potential consequences of not addressing this issue. Identify the gaps that would happen if the problem is not addressed. </a:t>
            </a:r>
            <a:endParaRPr/>
          </a:p>
        </p:txBody>
      </p:sp>
      <p:sp>
        <p:nvSpPr>
          <p:cNvPr id="162" name="Google Shape;162;p7"/>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63" name="Google Shape;163;p7"/>
          <p:cNvSpPr txBox="1"/>
          <p:nvPr/>
        </p:nvSpPr>
        <p:spPr>
          <a:xfrm>
            <a:off x="1503705" y="0"/>
            <a:ext cx="10227733" cy="1076325"/>
          </a:xfrm>
          <a:prstGeom prst="rect">
            <a:avLst/>
          </a:prstGeom>
          <a:no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IN" sz="3600" u="none" cap="none" strike="noStrike">
                <a:solidFill>
                  <a:srgbClr val="C00000"/>
                </a:solidFill>
                <a:latin typeface="Bookman Old Style"/>
                <a:ea typeface="Bookman Old Style"/>
                <a:cs typeface="Bookman Old Style"/>
                <a:sym typeface="Bookman Old Style"/>
              </a:rPr>
              <a:t>Problem Definition</a:t>
            </a:r>
            <a:endParaRPr b="1" i="0" sz="3600" u="none" cap="none" strike="noStrike">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8"/>
          <p:cNvSpPr txBox="1"/>
          <p:nvPr>
            <p:ph idx="1" type="body"/>
          </p:nvPr>
        </p:nvSpPr>
        <p:spPr>
          <a:xfrm>
            <a:off x="342900" y="1258282"/>
            <a:ext cx="11496675" cy="545404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Font typeface="Arial"/>
              <a:buChar char="•"/>
            </a:pPr>
            <a:r>
              <a:rPr b="1" lang="en-IN"/>
              <a:t>Main Objective: </a:t>
            </a:r>
            <a:r>
              <a:rPr lang="en-IN"/>
              <a:t>State the primary goal of your project in one clear sentence.</a:t>
            </a:r>
            <a:endParaRPr/>
          </a:p>
          <a:p>
            <a:pPr indent="-228600" lvl="0" marL="228600" rtl="0" algn="l">
              <a:lnSpc>
                <a:spcPct val="90000"/>
              </a:lnSpc>
              <a:spcBef>
                <a:spcPts val="1000"/>
              </a:spcBef>
              <a:spcAft>
                <a:spcPts val="0"/>
              </a:spcAft>
              <a:buClr>
                <a:srgbClr val="002060"/>
              </a:buClr>
              <a:buSzPts val="2800"/>
              <a:buFont typeface="Arial"/>
              <a:buChar char="•"/>
            </a:pPr>
            <a:r>
              <a:rPr b="1" lang="en-IN"/>
              <a:t>Specific Objectives: </a:t>
            </a:r>
            <a:r>
              <a:rPr lang="en-IN"/>
              <a:t>List 2-4 specific objectives that guide your project.</a:t>
            </a:r>
            <a:endParaRPr/>
          </a:p>
          <a:p>
            <a:pPr indent="-228600" lvl="0" marL="228600" rtl="0" algn="l">
              <a:lnSpc>
                <a:spcPct val="90000"/>
              </a:lnSpc>
              <a:spcBef>
                <a:spcPts val="1000"/>
              </a:spcBef>
              <a:spcAft>
                <a:spcPts val="0"/>
              </a:spcAft>
              <a:buClr>
                <a:srgbClr val="002060"/>
              </a:buClr>
              <a:buSzPts val="2800"/>
              <a:buFont typeface="Arial"/>
              <a:buChar char="•"/>
            </a:pPr>
            <a:r>
              <a:rPr b="1" lang="en-IN"/>
              <a:t>Expected Contributions to the Field: </a:t>
            </a:r>
            <a:r>
              <a:rPr lang="en-IN"/>
              <a:t>Highlight what you hope to achieve and how it adds value to existing knowledge.</a:t>
            </a:r>
            <a:endParaRPr/>
          </a:p>
        </p:txBody>
      </p:sp>
      <p:sp>
        <p:nvSpPr>
          <p:cNvPr id="169" name="Google Shape;169;p8"/>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70" name="Google Shape;170;p8"/>
          <p:cNvSpPr txBox="1"/>
          <p:nvPr/>
        </p:nvSpPr>
        <p:spPr>
          <a:xfrm>
            <a:off x="2191229" y="0"/>
            <a:ext cx="8146571" cy="1032933"/>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Objectives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txBox="1"/>
          <p:nvPr>
            <p:ph idx="1" type="body"/>
          </p:nvPr>
        </p:nvSpPr>
        <p:spPr>
          <a:xfrm>
            <a:off x="174811" y="1069220"/>
            <a:ext cx="11842377" cy="527798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Font typeface="Arial"/>
              <a:buChar char="•"/>
            </a:pPr>
            <a:r>
              <a:rPr b="1" lang="en-IN"/>
              <a:t>Design: </a:t>
            </a:r>
            <a:r>
              <a:rPr lang="en-IN"/>
              <a:t>Describe your approach (qualitative, quantitative, or mixed methods).</a:t>
            </a:r>
            <a:endParaRPr/>
          </a:p>
          <a:p>
            <a:pPr indent="-228600" lvl="0" marL="228600" rtl="0" algn="l">
              <a:lnSpc>
                <a:spcPct val="90000"/>
              </a:lnSpc>
              <a:spcBef>
                <a:spcPts val="1000"/>
              </a:spcBef>
              <a:spcAft>
                <a:spcPts val="0"/>
              </a:spcAft>
              <a:buClr>
                <a:srgbClr val="002060"/>
              </a:buClr>
              <a:buSzPts val="2800"/>
              <a:buFont typeface="Arial"/>
              <a:buChar char="•"/>
            </a:pPr>
            <a:r>
              <a:rPr b="1" lang="en-IN"/>
              <a:t>Data Collection Methods: </a:t>
            </a:r>
            <a:r>
              <a:rPr lang="en-IN"/>
              <a:t>Explain how you will gather data (surveys, interviews, experiments).</a:t>
            </a:r>
            <a:endParaRPr/>
          </a:p>
          <a:p>
            <a:pPr indent="-228600" lvl="0" marL="228600" rtl="0" algn="l">
              <a:lnSpc>
                <a:spcPct val="90000"/>
              </a:lnSpc>
              <a:spcBef>
                <a:spcPts val="1000"/>
              </a:spcBef>
              <a:spcAft>
                <a:spcPts val="0"/>
              </a:spcAft>
              <a:buClr>
                <a:srgbClr val="002060"/>
              </a:buClr>
              <a:buSzPts val="2800"/>
              <a:buFont typeface="Arial"/>
              <a:buChar char="•"/>
            </a:pPr>
            <a:r>
              <a:rPr b="1" lang="en-IN"/>
              <a:t>Data Analysis Techniques: </a:t>
            </a:r>
            <a:r>
              <a:rPr lang="en-IN"/>
              <a:t>Specify how you will analyze the data (statistical analysis, thematic analysis).</a:t>
            </a:r>
            <a:endParaRPr/>
          </a:p>
          <a:p>
            <a:pPr indent="-228600" lvl="0" marL="228600" rtl="0" algn="l">
              <a:lnSpc>
                <a:spcPct val="90000"/>
              </a:lnSpc>
              <a:spcBef>
                <a:spcPts val="1000"/>
              </a:spcBef>
              <a:spcAft>
                <a:spcPts val="0"/>
              </a:spcAft>
              <a:buClr>
                <a:srgbClr val="002060"/>
              </a:buClr>
              <a:buSzPts val="2800"/>
              <a:buFont typeface="Arial"/>
              <a:buChar char="•"/>
            </a:pPr>
            <a:r>
              <a:rPr b="1" lang="en-IN"/>
              <a:t>Tools and Resources Used: </a:t>
            </a:r>
            <a:r>
              <a:rPr lang="en-IN"/>
              <a:t>Mention any software or tools you plan to use in your project.</a:t>
            </a:r>
            <a:endParaRPr/>
          </a:p>
        </p:txBody>
      </p:sp>
      <p:sp>
        <p:nvSpPr>
          <p:cNvPr id="176" name="Google Shape;176;p9"/>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77" name="Google Shape;177;p9"/>
          <p:cNvSpPr txBox="1"/>
          <p:nvPr/>
        </p:nvSpPr>
        <p:spPr>
          <a:xfrm>
            <a:off x="2284362" y="0"/>
            <a:ext cx="8146571" cy="839401"/>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Methodology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txBox="1"/>
          <p:nvPr>
            <p:ph idx="1" type="body"/>
          </p:nvPr>
        </p:nvSpPr>
        <p:spPr>
          <a:xfrm>
            <a:off x="174811" y="1069220"/>
            <a:ext cx="11842377" cy="527798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002060"/>
              </a:buClr>
              <a:buSzPts val="2800"/>
              <a:buNone/>
            </a:pPr>
            <a:r>
              <a:rPr lang="en-IN"/>
              <a:t>Use a flowchart to depict your research process.</a:t>
            </a:r>
            <a:endParaRPr/>
          </a:p>
        </p:txBody>
      </p:sp>
      <p:sp>
        <p:nvSpPr>
          <p:cNvPr id="183" name="Google Shape;183;p10"/>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84" name="Google Shape;184;p10"/>
          <p:cNvSpPr txBox="1"/>
          <p:nvPr/>
        </p:nvSpPr>
        <p:spPr>
          <a:xfrm>
            <a:off x="2284362" y="0"/>
            <a:ext cx="8146571" cy="839401"/>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Methodology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1"/>
          <p:cNvSpPr txBox="1"/>
          <p:nvPr>
            <p:ph idx="1" type="body"/>
          </p:nvPr>
        </p:nvSpPr>
        <p:spPr>
          <a:xfrm>
            <a:off x="247650" y="1117600"/>
            <a:ext cx="11769538" cy="522960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Char char="•"/>
            </a:pPr>
            <a:r>
              <a:rPr b="1" lang="en-IN"/>
              <a:t>Expected Results: </a:t>
            </a:r>
            <a:r>
              <a:rPr lang="en-IN"/>
              <a:t>What do you anticipate as a solution to the problem in your project? Share your expected outcomes.</a:t>
            </a:r>
            <a:endParaRPr/>
          </a:p>
          <a:p>
            <a:pPr indent="-228600" lvl="0" marL="228600" rtl="0" algn="l">
              <a:lnSpc>
                <a:spcPct val="90000"/>
              </a:lnSpc>
              <a:spcBef>
                <a:spcPts val="1000"/>
              </a:spcBef>
              <a:spcAft>
                <a:spcPts val="0"/>
              </a:spcAft>
              <a:buClr>
                <a:srgbClr val="002060"/>
              </a:buClr>
              <a:buSzPts val="2800"/>
              <a:buChar char="•"/>
            </a:pPr>
            <a:r>
              <a:rPr b="1" lang="en-IN"/>
              <a:t>Potential Impact on the Field: </a:t>
            </a:r>
            <a:r>
              <a:rPr lang="en-IN"/>
              <a:t>Discuss how your findings could influence practical implementation or future work.</a:t>
            </a:r>
            <a:endParaRPr/>
          </a:p>
          <a:p>
            <a:pPr indent="-228600" lvl="0" marL="228600" rtl="0" algn="l">
              <a:lnSpc>
                <a:spcPct val="90000"/>
              </a:lnSpc>
              <a:spcBef>
                <a:spcPts val="1000"/>
              </a:spcBef>
              <a:spcAft>
                <a:spcPts val="0"/>
              </a:spcAft>
              <a:buClr>
                <a:srgbClr val="002060"/>
              </a:buClr>
              <a:buSzPts val="2800"/>
              <a:buChar char="•"/>
            </a:pPr>
            <a:r>
              <a:rPr b="1" lang="en-IN"/>
              <a:t>Future Research Directions:</a:t>
            </a:r>
            <a:r>
              <a:rPr lang="en-IN"/>
              <a:t> Suggest how your project might open doors for additional studies.</a:t>
            </a:r>
            <a:endParaRPr/>
          </a:p>
        </p:txBody>
      </p:sp>
      <p:sp>
        <p:nvSpPr>
          <p:cNvPr id="190" name="Google Shape;190;p11"/>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91" name="Google Shape;191;p11"/>
          <p:cNvSpPr txBox="1"/>
          <p:nvPr/>
        </p:nvSpPr>
        <p:spPr>
          <a:xfrm>
            <a:off x="2284362" y="0"/>
            <a:ext cx="8146571" cy="839401"/>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Proposed Outcomes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2"/>
          <p:cNvSpPr txBox="1"/>
          <p:nvPr>
            <p:ph idx="1" type="body"/>
          </p:nvPr>
        </p:nvSpPr>
        <p:spPr>
          <a:xfrm>
            <a:off x="247650" y="1117600"/>
            <a:ext cx="11769538" cy="5229605"/>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rgbClr val="002060"/>
              </a:buClr>
              <a:buSzPct val="100000"/>
              <a:buChar char="•"/>
            </a:pPr>
            <a:r>
              <a:rPr b="1" lang="en-IN"/>
              <a:t>Project Timeline Overview</a:t>
            </a:r>
            <a:endParaRPr/>
          </a:p>
          <a:p>
            <a:pPr indent="-228600" lvl="0" marL="228600" rtl="0" algn="l">
              <a:lnSpc>
                <a:spcPct val="90000"/>
              </a:lnSpc>
              <a:spcBef>
                <a:spcPts val="1000"/>
              </a:spcBef>
              <a:spcAft>
                <a:spcPts val="0"/>
              </a:spcAft>
              <a:buClr>
                <a:srgbClr val="002060"/>
              </a:buClr>
              <a:buSzPct val="100000"/>
              <a:buChar char="•"/>
            </a:pPr>
            <a:r>
              <a:rPr b="1" lang="en-IN"/>
              <a:t>Initiation Phase (Weeks 1-2)</a:t>
            </a:r>
            <a:endParaRPr/>
          </a:p>
          <a:p>
            <a:pPr indent="-228600" lvl="1" marL="685800" rtl="0" algn="l">
              <a:lnSpc>
                <a:spcPct val="90000"/>
              </a:lnSpc>
              <a:spcBef>
                <a:spcPts val="500"/>
              </a:spcBef>
              <a:spcAft>
                <a:spcPts val="0"/>
              </a:spcAft>
              <a:buClr>
                <a:schemeClr val="dk1"/>
              </a:buClr>
              <a:buSzPct val="100000"/>
              <a:buChar char="•"/>
            </a:pPr>
            <a:r>
              <a:rPr lang="en-IN"/>
              <a:t>Define project goals and objectives.</a:t>
            </a:r>
            <a:endParaRPr/>
          </a:p>
          <a:p>
            <a:pPr indent="-228600" lvl="1" marL="685800" rtl="0" algn="l">
              <a:lnSpc>
                <a:spcPct val="90000"/>
              </a:lnSpc>
              <a:spcBef>
                <a:spcPts val="500"/>
              </a:spcBef>
              <a:spcAft>
                <a:spcPts val="0"/>
              </a:spcAft>
              <a:buClr>
                <a:schemeClr val="dk1"/>
              </a:buClr>
              <a:buSzPct val="100000"/>
              <a:buChar char="•"/>
            </a:pPr>
            <a:r>
              <a:rPr lang="en-IN"/>
              <a:t>Identify group members and resources.</a:t>
            </a:r>
            <a:endParaRPr/>
          </a:p>
          <a:p>
            <a:pPr indent="-228600" lvl="1" marL="685800" rtl="0" algn="l">
              <a:lnSpc>
                <a:spcPct val="90000"/>
              </a:lnSpc>
              <a:spcBef>
                <a:spcPts val="500"/>
              </a:spcBef>
              <a:spcAft>
                <a:spcPts val="0"/>
              </a:spcAft>
              <a:buClr>
                <a:schemeClr val="dk1"/>
              </a:buClr>
              <a:buSzPct val="100000"/>
              <a:buChar char="•"/>
            </a:pPr>
            <a:r>
              <a:rPr lang="en-IN"/>
              <a:t>Conduct feasibility studies.</a:t>
            </a:r>
            <a:endParaRPr/>
          </a:p>
          <a:p>
            <a:pPr indent="-228600" lvl="0" marL="228600" rtl="0" algn="l">
              <a:lnSpc>
                <a:spcPct val="90000"/>
              </a:lnSpc>
              <a:spcBef>
                <a:spcPts val="1000"/>
              </a:spcBef>
              <a:spcAft>
                <a:spcPts val="0"/>
              </a:spcAft>
              <a:buClr>
                <a:srgbClr val="002060"/>
              </a:buClr>
              <a:buSzPct val="100000"/>
              <a:buChar char="•"/>
            </a:pPr>
            <a:r>
              <a:rPr b="1" lang="en-IN"/>
              <a:t>Planning Phase (Weeks 3-4)</a:t>
            </a:r>
            <a:endParaRPr/>
          </a:p>
          <a:p>
            <a:pPr indent="-228600" lvl="1" marL="685800" rtl="0" algn="l">
              <a:lnSpc>
                <a:spcPct val="90000"/>
              </a:lnSpc>
              <a:spcBef>
                <a:spcPts val="500"/>
              </a:spcBef>
              <a:spcAft>
                <a:spcPts val="0"/>
              </a:spcAft>
              <a:buClr>
                <a:schemeClr val="dk1"/>
              </a:buClr>
              <a:buSzPct val="100000"/>
              <a:buChar char="•"/>
            </a:pPr>
            <a:r>
              <a:rPr lang="en-IN"/>
              <a:t>Develop a detailed project plan, including tasks and timelines.</a:t>
            </a:r>
            <a:endParaRPr/>
          </a:p>
          <a:p>
            <a:pPr indent="-228600" lvl="1" marL="685800" rtl="0" algn="l">
              <a:lnSpc>
                <a:spcPct val="90000"/>
              </a:lnSpc>
              <a:spcBef>
                <a:spcPts val="500"/>
              </a:spcBef>
              <a:spcAft>
                <a:spcPts val="0"/>
              </a:spcAft>
              <a:buClr>
                <a:schemeClr val="dk1"/>
              </a:buClr>
              <a:buSzPct val="100000"/>
              <a:buChar char="•"/>
            </a:pPr>
            <a:r>
              <a:rPr lang="en-IN"/>
              <a:t>Allocate resources and assign responsibilities.</a:t>
            </a:r>
            <a:endParaRPr/>
          </a:p>
          <a:p>
            <a:pPr indent="-228600" lvl="1" marL="685800" rtl="0" algn="l">
              <a:lnSpc>
                <a:spcPct val="90000"/>
              </a:lnSpc>
              <a:spcBef>
                <a:spcPts val="500"/>
              </a:spcBef>
              <a:spcAft>
                <a:spcPts val="0"/>
              </a:spcAft>
              <a:buClr>
                <a:schemeClr val="dk1"/>
              </a:buClr>
              <a:buSzPct val="100000"/>
              <a:buChar char="•"/>
            </a:pPr>
            <a:r>
              <a:rPr lang="en-IN"/>
              <a:t>Create a budget plan.</a:t>
            </a:r>
            <a:endParaRPr/>
          </a:p>
          <a:p>
            <a:pPr indent="-228600" lvl="0" marL="228600" rtl="0" algn="l">
              <a:lnSpc>
                <a:spcPct val="90000"/>
              </a:lnSpc>
              <a:spcBef>
                <a:spcPts val="1000"/>
              </a:spcBef>
              <a:spcAft>
                <a:spcPts val="0"/>
              </a:spcAft>
              <a:buClr>
                <a:srgbClr val="002060"/>
              </a:buClr>
              <a:buSzPct val="100000"/>
              <a:buChar char="•"/>
            </a:pPr>
            <a:r>
              <a:rPr b="1" lang="en-IN"/>
              <a:t>Execution Phase (Weeks 5-10)</a:t>
            </a:r>
            <a:endParaRPr/>
          </a:p>
          <a:p>
            <a:pPr indent="-228600" lvl="1" marL="685800" rtl="0" algn="l">
              <a:lnSpc>
                <a:spcPct val="90000"/>
              </a:lnSpc>
              <a:spcBef>
                <a:spcPts val="500"/>
              </a:spcBef>
              <a:spcAft>
                <a:spcPts val="0"/>
              </a:spcAft>
              <a:buClr>
                <a:schemeClr val="dk1"/>
              </a:buClr>
              <a:buSzPct val="100000"/>
              <a:buChar char="•"/>
            </a:pPr>
            <a:r>
              <a:rPr lang="en-IN"/>
              <a:t>Begin project work according to the project plan.</a:t>
            </a:r>
            <a:endParaRPr/>
          </a:p>
          <a:p>
            <a:pPr indent="-228600" lvl="1" marL="685800" rtl="0" algn="l">
              <a:lnSpc>
                <a:spcPct val="90000"/>
              </a:lnSpc>
              <a:spcBef>
                <a:spcPts val="500"/>
              </a:spcBef>
              <a:spcAft>
                <a:spcPts val="0"/>
              </a:spcAft>
              <a:buClr>
                <a:schemeClr val="dk1"/>
              </a:buClr>
              <a:buSzPct val="100000"/>
              <a:buChar char="•"/>
            </a:pPr>
            <a:r>
              <a:rPr lang="en-IN"/>
              <a:t>Hold regular team meetings to monitor progress.</a:t>
            </a:r>
            <a:endParaRPr/>
          </a:p>
          <a:p>
            <a:pPr indent="-228600" lvl="1" marL="685800" rtl="0" algn="l">
              <a:lnSpc>
                <a:spcPct val="90000"/>
              </a:lnSpc>
              <a:spcBef>
                <a:spcPts val="500"/>
              </a:spcBef>
              <a:spcAft>
                <a:spcPts val="0"/>
              </a:spcAft>
              <a:buClr>
                <a:schemeClr val="dk1"/>
              </a:buClr>
              <a:buSzPct val="100000"/>
              <a:buChar char="•"/>
            </a:pPr>
            <a:r>
              <a:rPr lang="en-IN"/>
              <a:t>Implement communication strategies with group members.</a:t>
            </a:r>
            <a:endParaRPr/>
          </a:p>
          <a:p>
            <a:pPr indent="-228600" lvl="0" marL="228600" rtl="0" algn="l">
              <a:lnSpc>
                <a:spcPct val="90000"/>
              </a:lnSpc>
              <a:spcBef>
                <a:spcPts val="1000"/>
              </a:spcBef>
              <a:spcAft>
                <a:spcPts val="0"/>
              </a:spcAft>
              <a:buClr>
                <a:srgbClr val="002060"/>
              </a:buClr>
              <a:buSzPct val="100000"/>
              <a:buChar char="•"/>
            </a:pPr>
            <a:r>
              <a:rPr b="1" lang="en-IN"/>
              <a:t>Closure Phase (Weeks 11-13)</a:t>
            </a:r>
            <a:endParaRPr/>
          </a:p>
          <a:p>
            <a:pPr indent="-228600" lvl="1" marL="685800" rtl="0" algn="l">
              <a:lnSpc>
                <a:spcPct val="90000"/>
              </a:lnSpc>
              <a:spcBef>
                <a:spcPts val="500"/>
              </a:spcBef>
              <a:spcAft>
                <a:spcPts val="0"/>
              </a:spcAft>
              <a:buClr>
                <a:schemeClr val="dk1"/>
              </a:buClr>
              <a:buSzPct val="100000"/>
              <a:buChar char="•"/>
            </a:pPr>
            <a:r>
              <a:rPr lang="en-IN"/>
              <a:t>Complete final deliverables and obtain panel approval.</a:t>
            </a:r>
            <a:endParaRPr/>
          </a:p>
          <a:p>
            <a:pPr indent="-228600" lvl="1" marL="685800" rtl="0" algn="l">
              <a:lnSpc>
                <a:spcPct val="90000"/>
              </a:lnSpc>
              <a:spcBef>
                <a:spcPts val="500"/>
              </a:spcBef>
              <a:spcAft>
                <a:spcPts val="0"/>
              </a:spcAft>
              <a:buClr>
                <a:schemeClr val="dk1"/>
              </a:buClr>
              <a:buSzPct val="100000"/>
              <a:buChar char="•"/>
            </a:pPr>
            <a:r>
              <a:rPr lang="en-IN"/>
              <a:t>Present in project review and document lessons learned.</a:t>
            </a:r>
            <a:endParaRPr/>
          </a:p>
          <a:p>
            <a:pPr indent="-228600" lvl="1" marL="685800" rtl="0" algn="l">
              <a:lnSpc>
                <a:spcPct val="90000"/>
              </a:lnSpc>
              <a:spcBef>
                <a:spcPts val="500"/>
              </a:spcBef>
              <a:spcAft>
                <a:spcPts val="0"/>
              </a:spcAft>
              <a:buClr>
                <a:schemeClr val="dk1"/>
              </a:buClr>
              <a:buSzPct val="100000"/>
              <a:buChar char="•"/>
            </a:pPr>
            <a:r>
              <a:rPr lang="en-IN"/>
              <a:t>Formally close the project.</a:t>
            </a:r>
            <a:endParaRPr/>
          </a:p>
          <a:p>
            <a:pPr indent="-77470" lvl="0" marL="228600" rtl="0" algn="l">
              <a:lnSpc>
                <a:spcPct val="90000"/>
              </a:lnSpc>
              <a:spcBef>
                <a:spcPts val="1000"/>
              </a:spcBef>
              <a:spcAft>
                <a:spcPts val="0"/>
              </a:spcAft>
              <a:buClr>
                <a:srgbClr val="002060"/>
              </a:buClr>
              <a:buSzPct val="100000"/>
              <a:buNone/>
            </a:pPr>
            <a:r>
              <a:t/>
            </a:r>
            <a:endParaRPr/>
          </a:p>
        </p:txBody>
      </p:sp>
      <p:sp>
        <p:nvSpPr>
          <p:cNvPr id="197" name="Google Shape;197;p12"/>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198" name="Google Shape;198;p12"/>
          <p:cNvSpPr txBox="1"/>
          <p:nvPr/>
        </p:nvSpPr>
        <p:spPr>
          <a:xfrm>
            <a:off x="2284362" y="0"/>
            <a:ext cx="8146571" cy="839401"/>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Timeline of the project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3"/>
          <p:cNvSpPr txBox="1"/>
          <p:nvPr>
            <p:ph idx="1" type="body"/>
          </p:nvPr>
        </p:nvSpPr>
        <p:spPr>
          <a:xfrm>
            <a:off x="174811" y="1117600"/>
            <a:ext cx="11842377" cy="522960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Char char="•"/>
            </a:pPr>
            <a:r>
              <a:rPr b="1" lang="en-IN"/>
              <a:t>Summary of Key Points: </a:t>
            </a:r>
            <a:r>
              <a:rPr lang="en-IN"/>
              <a:t>Recap the most important aspects of your presentation succinctly.</a:t>
            </a:r>
            <a:endParaRPr/>
          </a:p>
          <a:p>
            <a:pPr indent="-228600" lvl="0" marL="228600" rtl="0" algn="l">
              <a:lnSpc>
                <a:spcPct val="90000"/>
              </a:lnSpc>
              <a:spcBef>
                <a:spcPts val="1000"/>
              </a:spcBef>
              <a:spcAft>
                <a:spcPts val="0"/>
              </a:spcAft>
              <a:buClr>
                <a:srgbClr val="002060"/>
              </a:buClr>
              <a:buSzPts val="2800"/>
              <a:buChar char="•"/>
            </a:pPr>
            <a:r>
              <a:rPr b="1" lang="en-IN"/>
              <a:t>Final Thoughts: </a:t>
            </a:r>
            <a:r>
              <a:rPr lang="en-IN"/>
              <a:t>Share a concluding statement.</a:t>
            </a:r>
            <a:endParaRPr/>
          </a:p>
          <a:p>
            <a:pPr indent="-228600" lvl="0" marL="228600" rtl="0" algn="l">
              <a:lnSpc>
                <a:spcPct val="90000"/>
              </a:lnSpc>
              <a:spcBef>
                <a:spcPts val="1000"/>
              </a:spcBef>
              <a:spcAft>
                <a:spcPts val="0"/>
              </a:spcAft>
              <a:buClr>
                <a:srgbClr val="002060"/>
              </a:buClr>
              <a:buSzPts val="2800"/>
              <a:buChar char="•"/>
            </a:pPr>
            <a:r>
              <a:rPr b="1" lang="en-IN"/>
              <a:t>Call to Action or Next Steps: </a:t>
            </a:r>
            <a:r>
              <a:rPr lang="en-IN"/>
              <a:t>Further road map or implications of your work.</a:t>
            </a:r>
            <a:endParaRPr/>
          </a:p>
        </p:txBody>
      </p:sp>
      <p:sp>
        <p:nvSpPr>
          <p:cNvPr id="205" name="Google Shape;205;p13"/>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206" name="Google Shape;206;p13"/>
          <p:cNvSpPr txBox="1"/>
          <p:nvPr/>
        </p:nvSpPr>
        <p:spPr>
          <a:xfrm>
            <a:off x="2284362" y="145670"/>
            <a:ext cx="8146571" cy="839401"/>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Conclusion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4"/>
          <p:cNvSpPr txBox="1"/>
          <p:nvPr>
            <p:ph idx="1" type="body"/>
          </p:nvPr>
        </p:nvSpPr>
        <p:spPr>
          <a:xfrm>
            <a:off x="389467" y="1117600"/>
            <a:ext cx="11192933" cy="522960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2060"/>
              </a:buClr>
              <a:buSzPts val="2800"/>
              <a:buChar char="•"/>
            </a:pPr>
            <a:r>
              <a:rPr b="1" lang="en-IN"/>
              <a:t>List of References: </a:t>
            </a:r>
            <a:r>
              <a:rPr lang="en-IN"/>
              <a:t>Provide a formatted list of all sources cited in your presentation. ( Journals, conference publications, books, patents etc)</a:t>
            </a:r>
            <a:endParaRPr/>
          </a:p>
          <a:p>
            <a:pPr indent="-228600" lvl="0" marL="228600" rtl="0" algn="l">
              <a:lnSpc>
                <a:spcPct val="90000"/>
              </a:lnSpc>
              <a:spcBef>
                <a:spcPts val="1000"/>
              </a:spcBef>
              <a:spcAft>
                <a:spcPts val="0"/>
              </a:spcAft>
              <a:buClr>
                <a:srgbClr val="002060"/>
              </a:buClr>
              <a:buSzPts val="2800"/>
              <a:buChar char="•"/>
            </a:pPr>
            <a:r>
              <a:rPr b="1" lang="en-IN"/>
              <a:t>Citations in Appropriate Format: </a:t>
            </a:r>
            <a:r>
              <a:rPr lang="en-IN"/>
              <a:t>Use APA citation style.</a:t>
            </a:r>
            <a:endParaRPr/>
          </a:p>
        </p:txBody>
      </p:sp>
      <p:sp>
        <p:nvSpPr>
          <p:cNvPr id="213" name="Google Shape;213;p14"/>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214" name="Google Shape;214;p14"/>
          <p:cNvSpPr txBox="1"/>
          <p:nvPr/>
        </p:nvSpPr>
        <p:spPr>
          <a:xfrm>
            <a:off x="2284362" y="145670"/>
            <a:ext cx="8146571" cy="839401"/>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rgbClr val="C00000"/>
                </a:solidFill>
                <a:latin typeface="Bookman Old Style"/>
                <a:ea typeface="Bookman Old Style"/>
                <a:cs typeface="Bookman Old Style"/>
                <a:sym typeface="Bookman Old Style"/>
              </a:rPr>
              <a:t>References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5"/>
          <p:cNvSpPr txBox="1"/>
          <p:nvPr>
            <p:ph idx="1" type="body"/>
          </p:nvPr>
        </p:nvSpPr>
        <p:spPr>
          <a:xfrm>
            <a:off x="174813" y="1327530"/>
            <a:ext cx="11842377" cy="553047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rgbClr val="002060"/>
              </a:buClr>
              <a:buSzPts val="2300"/>
              <a:buNone/>
            </a:pPr>
            <a:r>
              <a:rPr lang="en-IN" sz="2300"/>
              <a:t>EL should aim for tangible results in one of the following forms:</a:t>
            </a:r>
            <a:endParaRPr/>
          </a:p>
          <a:p>
            <a:pPr indent="-228600" lvl="0" marL="228600" rtl="0" algn="just">
              <a:lnSpc>
                <a:spcPct val="90000"/>
              </a:lnSpc>
              <a:spcBef>
                <a:spcPts val="1000"/>
              </a:spcBef>
              <a:spcAft>
                <a:spcPts val="0"/>
              </a:spcAft>
              <a:buClr>
                <a:srgbClr val="002060"/>
              </a:buClr>
              <a:buSzPts val="2300"/>
              <a:buFont typeface="Arial"/>
              <a:buChar char="•"/>
            </a:pPr>
            <a:r>
              <a:rPr b="1" lang="en-IN" sz="2300"/>
              <a:t>Patent Filing: </a:t>
            </a:r>
            <a:r>
              <a:rPr lang="en-IN" sz="2300"/>
              <a:t>If your prototype shows novel functionality or an innovative process, file for a patent. Steps include drafting a patent description, claims, and conducting a prior art search.</a:t>
            </a:r>
            <a:endParaRPr/>
          </a:p>
          <a:p>
            <a:pPr indent="-228600" lvl="0" marL="228600" rtl="0" algn="just">
              <a:lnSpc>
                <a:spcPct val="90000"/>
              </a:lnSpc>
              <a:spcBef>
                <a:spcPts val="1000"/>
              </a:spcBef>
              <a:spcAft>
                <a:spcPts val="0"/>
              </a:spcAft>
              <a:buClr>
                <a:srgbClr val="002060"/>
              </a:buClr>
              <a:buSzPts val="2300"/>
              <a:buFont typeface="Arial"/>
              <a:buChar char="•"/>
            </a:pPr>
            <a:r>
              <a:rPr b="1" lang="en-IN" sz="2300"/>
              <a:t>Journal Publication: </a:t>
            </a:r>
            <a:r>
              <a:rPr lang="en-IN" sz="2300"/>
              <a:t>Write a comprehensive paper detailing the methodology, prototype design, testing, and results. Submit to journals related to manufacturing technology, engineering design, or industrial innovation.</a:t>
            </a:r>
            <a:endParaRPr/>
          </a:p>
          <a:p>
            <a:pPr indent="-228600" lvl="0" marL="228600" rtl="0" algn="just">
              <a:lnSpc>
                <a:spcPct val="90000"/>
              </a:lnSpc>
              <a:spcBef>
                <a:spcPts val="1000"/>
              </a:spcBef>
              <a:spcAft>
                <a:spcPts val="0"/>
              </a:spcAft>
              <a:buClr>
                <a:srgbClr val="002060"/>
              </a:buClr>
              <a:buSzPts val="2300"/>
              <a:buFont typeface="Arial"/>
              <a:buChar char="•"/>
            </a:pPr>
            <a:r>
              <a:rPr b="1" lang="en-IN" sz="2300"/>
              <a:t>Conference Publication: </a:t>
            </a:r>
            <a:r>
              <a:rPr lang="en-IN" sz="2300"/>
              <a:t>Prepare an abstract or full paper for submission to conferences. Present your prototype development, key findings, and future research possibilities (Paper to be drafted as per IEEE format. Format will be shared later on)</a:t>
            </a:r>
            <a:endParaRPr/>
          </a:p>
          <a:p>
            <a:pPr indent="-228600" lvl="0" marL="228600" rtl="0" algn="just">
              <a:lnSpc>
                <a:spcPct val="90000"/>
              </a:lnSpc>
              <a:spcBef>
                <a:spcPts val="1000"/>
              </a:spcBef>
              <a:spcAft>
                <a:spcPts val="0"/>
              </a:spcAft>
              <a:buClr>
                <a:srgbClr val="002060"/>
              </a:buClr>
              <a:buSzPts val="2300"/>
              <a:buFont typeface="Arial"/>
              <a:buChar char="•"/>
            </a:pPr>
            <a:r>
              <a:rPr b="1" lang="en-IN" sz="2300"/>
              <a:t>Research Proposal: </a:t>
            </a:r>
            <a:r>
              <a:rPr lang="en-IN" sz="2300"/>
              <a:t>Propose extending the research into a larger project, securing funding for mass production, or applying the process to different industries. Include objectives, proposed methodology, expected impacts, and a budget estimate.</a:t>
            </a:r>
            <a:endParaRPr/>
          </a:p>
        </p:txBody>
      </p:sp>
      <p:sp>
        <p:nvSpPr>
          <p:cNvPr id="221" name="Google Shape;221;p15"/>
          <p:cNvSpPr txBox="1"/>
          <p:nvPr>
            <p:ph idx="10" type="dt"/>
          </p:nvPr>
        </p:nvSpPr>
        <p:spPr>
          <a:xfrm>
            <a:off x="174812" y="6347205"/>
            <a:ext cx="27432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IN"/>
              <a:t>Tuesday, 22 October 2024</a:t>
            </a:r>
            <a:endParaRPr/>
          </a:p>
        </p:txBody>
      </p:sp>
      <p:sp>
        <p:nvSpPr>
          <p:cNvPr id="222" name="Google Shape;222;p15"/>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sp>
        <p:nvSpPr>
          <p:cNvPr id="223" name="Google Shape;223;p15"/>
          <p:cNvSpPr txBox="1"/>
          <p:nvPr/>
        </p:nvSpPr>
        <p:spPr>
          <a:xfrm>
            <a:off x="2235201" y="145670"/>
            <a:ext cx="8974666" cy="1181860"/>
          </a:xfrm>
          <a:prstGeom prst="rect">
            <a:avLst/>
          </a:prstGeom>
          <a:solidFill>
            <a:schemeClr val="lt1"/>
          </a:solidFill>
          <a:ln cap="flat" cmpd="sng" w="9525">
            <a:solidFill>
              <a:schemeClr val="lt1"/>
            </a:solidFill>
            <a:prstDash val="dash"/>
            <a:miter lim="8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n-IN" sz="3600" u="none" cap="none" strike="noStrike">
                <a:solidFill>
                  <a:srgbClr val="C00000"/>
                </a:solidFill>
                <a:latin typeface="Bookman Old Style"/>
                <a:ea typeface="Bookman Old Style"/>
                <a:cs typeface="Bookman Old Style"/>
                <a:sym typeface="Bookman Old Style"/>
              </a:rPr>
              <a:t>Expected Outcome by the end of First Year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6"/>
          <p:cNvSpPr txBox="1"/>
          <p:nvPr>
            <p:ph idx="12" type="sldNum"/>
          </p:nvPr>
        </p:nvSpPr>
        <p:spPr>
          <a:xfrm>
            <a:off x="9273988" y="634720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IN"/>
              <a:t>‹#›</a:t>
            </a:fld>
            <a:endParaRPr/>
          </a:p>
        </p:txBody>
      </p:sp>
      <p:pic>
        <p:nvPicPr>
          <p:cNvPr id="229" name="Google Shape;229;p16"/>
          <p:cNvPicPr preferRelativeResize="0"/>
          <p:nvPr/>
        </p:nvPicPr>
        <p:blipFill rotWithShape="1">
          <a:blip r:embed="rId3">
            <a:alphaModFix/>
          </a:blip>
          <a:srcRect b="0" l="0" r="0" t="0"/>
          <a:stretch/>
        </p:blipFill>
        <p:spPr>
          <a:xfrm>
            <a:off x="3151096" y="1605964"/>
            <a:ext cx="5889812" cy="36460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2021-06-02T13:10:21Z</dcterms:created>
  <dc:creator>Dr. Shanmukha</dc:creator>
</cp:coreProperties>
</file>